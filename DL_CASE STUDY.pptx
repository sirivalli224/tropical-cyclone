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8288000" cy="10287000"/>
  <p:notesSz cx="6858000" cy="9144000"/>
  <p:embeddedFontLst>
    <p:embeddedFont>
      <p:font typeface="Inter" panose="020B0604020202020204" charset="0"/>
      <p:regular r:id="rId11"/>
    </p:embeddedFont>
    <p:embeddedFont>
      <p:font typeface="Inter Bold" panose="020B0604020202020204" charset="0"/>
      <p:regular r:id="rId12"/>
    </p:embeddedFont>
    <p:embeddedFont>
      <p:font typeface="Inter Medium" panose="020B0604020202020204" charset="0"/>
      <p:regular r:id="rId13"/>
    </p:embeddedFont>
    <p:embeddedFont>
      <p:font typeface="Inter Semi-Bold" panose="020B0604020202020204" charset="0"/>
      <p:regular r:id="rId14"/>
    </p:embeddedFont>
    <p:embeddedFont>
      <p:font typeface="Neue Montreal Bold" panose="020B0604020202020204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18" Type="http://schemas.openxmlformats.org/officeDocument/2006/relationships/image" Target="../media/image21.png"/><Relationship Id="rId3" Type="http://schemas.openxmlformats.org/officeDocument/2006/relationships/image" Target="../media/image6.png"/><Relationship Id="rId21" Type="http://schemas.openxmlformats.org/officeDocument/2006/relationships/image" Target="../media/image24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17" Type="http://schemas.openxmlformats.org/officeDocument/2006/relationships/image" Target="../media/image20.png"/><Relationship Id="rId2" Type="http://schemas.openxmlformats.org/officeDocument/2006/relationships/image" Target="../media/image5.png"/><Relationship Id="rId16" Type="http://schemas.openxmlformats.org/officeDocument/2006/relationships/image" Target="../media/image19.png"/><Relationship Id="rId20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5" Type="http://schemas.openxmlformats.org/officeDocument/2006/relationships/image" Target="../media/image18.png"/><Relationship Id="rId10" Type="http://schemas.openxmlformats.org/officeDocument/2006/relationships/image" Target="../media/image13.png"/><Relationship Id="rId19" Type="http://schemas.openxmlformats.org/officeDocument/2006/relationships/image" Target="../media/image22.png"/><Relationship Id="rId4" Type="http://schemas.openxmlformats.org/officeDocument/2006/relationships/image" Target="../media/image7.png"/><Relationship Id="rId9" Type="http://schemas.openxmlformats.org/officeDocument/2006/relationships/image" Target="../media/image12.png"/><Relationship Id="rId14" Type="http://schemas.openxmlformats.org/officeDocument/2006/relationships/image" Target="../media/image17.png"/><Relationship Id="rId22" Type="http://schemas.openxmlformats.org/officeDocument/2006/relationships/image" Target="../media/image2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13" Type="http://schemas.openxmlformats.org/officeDocument/2006/relationships/image" Target="../media/image37.png"/><Relationship Id="rId18" Type="http://schemas.openxmlformats.org/officeDocument/2006/relationships/image" Target="../media/image42.png"/><Relationship Id="rId3" Type="http://schemas.openxmlformats.org/officeDocument/2006/relationships/image" Target="../media/image27.png"/><Relationship Id="rId21" Type="http://schemas.openxmlformats.org/officeDocument/2006/relationships/image" Target="../media/image45.png"/><Relationship Id="rId7" Type="http://schemas.openxmlformats.org/officeDocument/2006/relationships/image" Target="../media/image31.png"/><Relationship Id="rId12" Type="http://schemas.openxmlformats.org/officeDocument/2006/relationships/image" Target="../media/image36.png"/><Relationship Id="rId17" Type="http://schemas.openxmlformats.org/officeDocument/2006/relationships/image" Target="../media/image41.png"/><Relationship Id="rId2" Type="http://schemas.openxmlformats.org/officeDocument/2006/relationships/image" Target="../media/image26.png"/><Relationship Id="rId16" Type="http://schemas.openxmlformats.org/officeDocument/2006/relationships/image" Target="../media/image40.png"/><Relationship Id="rId20" Type="http://schemas.openxmlformats.org/officeDocument/2006/relationships/image" Target="../media/image4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11" Type="http://schemas.openxmlformats.org/officeDocument/2006/relationships/image" Target="../media/image35.png"/><Relationship Id="rId24" Type="http://schemas.openxmlformats.org/officeDocument/2006/relationships/image" Target="../media/image48.png"/><Relationship Id="rId5" Type="http://schemas.openxmlformats.org/officeDocument/2006/relationships/image" Target="../media/image29.png"/><Relationship Id="rId15" Type="http://schemas.openxmlformats.org/officeDocument/2006/relationships/image" Target="../media/image39.png"/><Relationship Id="rId23" Type="http://schemas.openxmlformats.org/officeDocument/2006/relationships/image" Target="../media/image47.png"/><Relationship Id="rId10" Type="http://schemas.openxmlformats.org/officeDocument/2006/relationships/image" Target="../media/image34.png"/><Relationship Id="rId19" Type="http://schemas.openxmlformats.org/officeDocument/2006/relationships/image" Target="../media/image43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Relationship Id="rId14" Type="http://schemas.openxmlformats.org/officeDocument/2006/relationships/image" Target="../media/image38.png"/><Relationship Id="rId22" Type="http://schemas.openxmlformats.org/officeDocument/2006/relationships/image" Target="../media/image46.png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0.png"/><Relationship Id="rId18" Type="http://schemas.openxmlformats.org/officeDocument/2006/relationships/image" Target="../media/image65.png"/><Relationship Id="rId26" Type="http://schemas.openxmlformats.org/officeDocument/2006/relationships/image" Target="../media/image73.png"/><Relationship Id="rId39" Type="http://schemas.openxmlformats.org/officeDocument/2006/relationships/image" Target="../media/image86.png"/><Relationship Id="rId21" Type="http://schemas.openxmlformats.org/officeDocument/2006/relationships/image" Target="../media/image68.png"/><Relationship Id="rId34" Type="http://schemas.openxmlformats.org/officeDocument/2006/relationships/image" Target="../media/image81.png"/><Relationship Id="rId42" Type="http://schemas.openxmlformats.org/officeDocument/2006/relationships/image" Target="../media/image89.png"/><Relationship Id="rId47" Type="http://schemas.openxmlformats.org/officeDocument/2006/relationships/image" Target="../media/image94.png"/><Relationship Id="rId50" Type="http://schemas.openxmlformats.org/officeDocument/2006/relationships/image" Target="../media/image97.png"/><Relationship Id="rId7" Type="http://schemas.openxmlformats.org/officeDocument/2006/relationships/image" Target="../media/image54.png"/><Relationship Id="rId2" Type="http://schemas.openxmlformats.org/officeDocument/2006/relationships/image" Target="../media/image49.png"/><Relationship Id="rId16" Type="http://schemas.openxmlformats.org/officeDocument/2006/relationships/image" Target="../media/image63.png"/><Relationship Id="rId29" Type="http://schemas.openxmlformats.org/officeDocument/2006/relationships/image" Target="../media/image76.png"/><Relationship Id="rId11" Type="http://schemas.openxmlformats.org/officeDocument/2006/relationships/image" Target="../media/image58.png"/><Relationship Id="rId24" Type="http://schemas.openxmlformats.org/officeDocument/2006/relationships/image" Target="../media/image71.png"/><Relationship Id="rId32" Type="http://schemas.openxmlformats.org/officeDocument/2006/relationships/image" Target="../media/image79.png"/><Relationship Id="rId37" Type="http://schemas.openxmlformats.org/officeDocument/2006/relationships/image" Target="../media/image84.png"/><Relationship Id="rId40" Type="http://schemas.openxmlformats.org/officeDocument/2006/relationships/image" Target="../media/image87.png"/><Relationship Id="rId45" Type="http://schemas.openxmlformats.org/officeDocument/2006/relationships/image" Target="../media/image92.png"/><Relationship Id="rId5" Type="http://schemas.openxmlformats.org/officeDocument/2006/relationships/image" Target="../media/image52.png"/><Relationship Id="rId15" Type="http://schemas.openxmlformats.org/officeDocument/2006/relationships/image" Target="../media/image62.png"/><Relationship Id="rId23" Type="http://schemas.openxmlformats.org/officeDocument/2006/relationships/image" Target="../media/image70.png"/><Relationship Id="rId28" Type="http://schemas.openxmlformats.org/officeDocument/2006/relationships/image" Target="../media/image75.png"/><Relationship Id="rId36" Type="http://schemas.openxmlformats.org/officeDocument/2006/relationships/image" Target="../media/image83.png"/><Relationship Id="rId49" Type="http://schemas.openxmlformats.org/officeDocument/2006/relationships/image" Target="../media/image96.png"/><Relationship Id="rId10" Type="http://schemas.openxmlformats.org/officeDocument/2006/relationships/image" Target="../media/image57.png"/><Relationship Id="rId19" Type="http://schemas.openxmlformats.org/officeDocument/2006/relationships/image" Target="../media/image66.png"/><Relationship Id="rId31" Type="http://schemas.openxmlformats.org/officeDocument/2006/relationships/image" Target="../media/image78.png"/><Relationship Id="rId44" Type="http://schemas.openxmlformats.org/officeDocument/2006/relationships/image" Target="../media/image91.png"/><Relationship Id="rId4" Type="http://schemas.openxmlformats.org/officeDocument/2006/relationships/image" Target="../media/image51.png"/><Relationship Id="rId9" Type="http://schemas.openxmlformats.org/officeDocument/2006/relationships/image" Target="../media/image56.png"/><Relationship Id="rId14" Type="http://schemas.openxmlformats.org/officeDocument/2006/relationships/image" Target="../media/image61.png"/><Relationship Id="rId22" Type="http://schemas.openxmlformats.org/officeDocument/2006/relationships/image" Target="../media/image69.png"/><Relationship Id="rId27" Type="http://schemas.openxmlformats.org/officeDocument/2006/relationships/image" Target="../media/image74.png"/><Relationship Id="rId30" Type="http://schemas.openxmlformats.org/officeDocument/2006/relationships/image" Target="../media/image77.png"/><Relationship Id="rId35" Type="http://schemas.openxmlformats.org/officeDocument/2006/relationships/image" Target="../media/image82.png"/><Relationship Id="rId43" Type="http://schemas.openxmlformats.org/officeDocument/2006/relationships/image" Target="../media/image90.png"/><Relationship Id="rId48" Type="http://schemas.openxmlformats.org/officeDocument/2006/relationships/image" Target="../media/image95.png"/><Relationship Id="rId8" Type="http://schemas.openxmlformats.org/officeDocument/2006/relationships/image" Target="../media/image55.png"/><Relationship Id="rId51" Type="http://schemas.openxmlformats.org/officeDocument/2006/relationships/image" Target="../media/image98.png"/><Relationship Id="rId3" Type="http://schemas.openxmlformats.org/officeDocument/2006/relationships/image" Target="../media/image50.png"/><Relationship Id="rId12" Type="http://schemas.openxmlformats.org/officeDocument/2006/relationships/image" Target="../media/image59.png"/><Relationship Id="rId17" Type="http://schemas.openxmlformats.org/officeDocument/2006/relationships/image" Target="../media/image64.png"/><Relationship Id="rId25" Type="http://schemas.openxmlformats.org/officeDocument/2006/relationships/image" Target="../media/image72.png"/><Relationship Id="rId33" Type="http://schemas.openxmlformats.org/officeDocument/2006/relationships/image" Target="../media/image80.png"/><Relationship Id="rId38" Type="http://schemas.openxmlformats.org/officeDocument/2006/relationships/image" Target="../media/image85.png"/><Relationship Id="rId46" Type="http://schemas.openxmlformats.org/officeDocument/2006/relationships/image" Target="../media/image93.png"/><Relationship Id="rId20" Type="http://schemas.openxmlformats.org/officeDocument/2006/relationships/image" Target="../media/image67.png"/><Relationship Id="rId41" Type="http://schemas.openxmlformats.org/officeDocument/2006/relationships/image" Target="../media/image8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5.png"/><Relationship Id="rId13" Type="http://schemas.openxmlformats.org/officeDocument/2006/relationships/image" Target="../media/image110.png"/><Relationship Id="rId18" Type="http://schemas.openxmlformats.org/officeDocument/2006/relationships/image" Target="../media/image115.png"/><Relationship Id="rId3" Type="http://schemas.openxmlformats.org/officeDocument/2006/relationships/image" Target="../media/image100.png"/><Relationship Id="rId21" Type="http://schemas.openxmlformats.org/officeDocument/2006/relationships/image" Target="../media/image118.png"/><Relationship Id="rId7" Type="http://schemas.openxmlformats.org/officeDocument/2006/relationships/image" Target="../media/image104.png"/><Relationship Id="rId12" Type="http://schemas.openxmlformats.org/officeDocument/2006/relationships/image" Target="../media/image109.png"/><Relationship Id="rId17" Type="http://schemas.openxmlformats.org/officeDocument/2006/relationships/image" Target="../media/image114.png"/><Relationship Id="rId25" Type="http://schemas.openxmlformats.org/officeDocument/2006/relationships/image" Target="../media/image122.png"/><Relationship Id="rId2" Type="http://schemas.openxmlformats.org/officeDocument/2006/relationships/image" Target="../media/image99.png"/><Relationship Id="rId16" Type="http://schemas.openxmlformats.org/officeDocument/2006/relationships/image" Target="../media/image113.png"/><Relationship Id="rId20" Type="http://schemas.openxmlformats.org/officeDocument/2006/relationships/image" Target="../media/image1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3.png"/><Relationship Id="rId11" Type="http://schemas.openxmlformats.org/officeDocument/2006/relationships/image" Target="../media/image108.png"/><Relationship Id="rId24" Type="http://schemas.openxmlformats.org/officeDocument/2006/relationships/image" Target="../media/image121.png"/><Relationship Id="rId5" Type="http://schemas.openxmlformats.org/officeDocument/2006/relationships/image" Target="../media/image102.png"/><Relationship Id="rId15" Type="http://schemas.openxmlformats.org/officeDocument/2006/relationships/image" Target="../media/image112.png"/><Relationship Id="rId23" Type="http://schemas.openxmlformats.org/officeDocument/2006/relationships/image" Target="../media/image120.png"/><Relationship Id="rId10" Type="http://schemas.openxmlformats.org/officeDocument/2006/relationships/image" Target="../media/image107.png"/><Relationship Id="rId19" Type="http://schemas.openxmlformats.org/officeDocument/2006/relationships/image" Target="../media/image116.png"/><Relationship Id="rId4" Type="http://schemas.openxmlformats.org/officeDocument/2006/relationships/image" Target="../media/image101.png"/><Relationship Id="rId9" Type="http://schemas.openxmlformats.org/officeDocument/2006/relationships/image" Target="../media/image106.png"/><Relationship Id="rId14" Type="http://schemas.openxmlformats.org/officeDocument/2006/relationships/image" Target="../media/image111.png"/><Relationship Id="rId22" Type="http://schemas.openxmlformats.org/officeDocument/2006/relationships/image" Target="../media/image11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9.png"/><Relationship Id="rId13" Type="http://schemas.openxmlformats.org/officeDocument/2006/relationships/image" Target="../media/image134.png"/><Relationship Id="rId18" Type="http://schemas.openxmlformats.org/officeDocument/2006/relationships/image" Target="../media/image139.png"/><Relationship Id="rId26" Type="http://schemas.openxmlformats.org/officeDocument/2006/relationships/image" Target="../media/image147.png"/><Relationship Id="rId3" Type="http://schemas.openxmlformats.org/officeDocument/2006/relationships/image" Target="../media/image124.png"/><Relationship Id="rId21" Type="http://schemas.openxmlformats.org/officeDocument/2006/relationships/image" Target="../media/image142.png"/><Relationship Id="rId7" Type="http://schemas.openxmlformats.org/officeDocument/2006/relationships/image" Target="../media/image128.png"/><Relationship Id="rId12" Type="http://schemas.openxmlformats.org/officeDocument/2006/relationships/image" Target="../media/image133.png"/><Relationship Id="rId17" Type="http://schemas.openxmlformats.org/officeDocument/2006/relationships/image" Target="../media/image138.png"/><Relationship Id="rId25" Type="http://schemas.openxmlformats.org/officeDocument/2006/relationships/image" Target="../media/image146.png"/><Relationship Id="rId2" Type="http://schemas.openxmlformats.org/officeDocument/2006/relationships/image" Target="../media/image123.png"/><Relationship Id="rId16" Type="http://schemas.openxmlformats.org/officeDocument/2006/relationships/image" Target="../media/image137.png"/><Relationship Id="rId20" Type="http://schemas.openxmlformats.org/officeDocument/2006/relationships/image" Target="../media/image141.png"/><Relationship Id="rId29" Type="http://schemas.openxmlformats.org/officeDocument/2006/relationships/image" Target="../media/image15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7.png"/><Relationship Id="rId11" Type="http://schemas.openxmlformats.org/officeDocument/2006/relationships/image" Target="../media/image132.png"/><Relationship Id="rId24" Type="http://schemas.openxmlformats.org/officeDocument/2006/relationships/image" Target="../media/image145.png"/><Relationship Id="rId32" Type="http://schemas.openxmlformats.org/officeDocument/2006/relationships/image" Target="../media/image153.png"/><Relationship Id="rId5" Type="http://schemas.openxmlformats.org/officeDocument/2006/relationships/image" Target="../media/image126.png"/><Relationship Id="rId15" Type="http://schemas.openxmlformats.org/officeDocument/2006/relationships/image" Target="../media/image136.png"/><Relationship Id="rId23" Type="http://schemas.openxmlformats.org/officeDocument/2006/relationships/image" Target="../media/image144.png"/><Relationship Id="rId28" Type="http://schemas.openxmlformats.org/officeDocument/2006/relationships/image" Target="../media/image149.png"/><Relationship Id="rId10" Type="http://schemas.openxmlformats.org/officeDocument/2006/relationships/image" Target="../media/image131.png"/><Relationship Id="rId19" Type="http://schemas.openxmlformats.org/officeDocument/2006/relationships/image" Target="../media/image140.png"/><Relationship Id="rId31" Type="http://schemas.openxmlformats.org/officeDocument/2006/relationships/image" Target="../media/image152.png"/><Relationship Id="rId4" Type="http://schemas.openxmlformats.org/officeDocument/2006/relationships/image" Target="../media/image125.png"/><Relationship Id="rId9" Type="http://schemas.openxmlformats.org/officeDocument/2006/relationships/image" Target="../media/image130.png"/><Relationship Id="rId14" Type="http://schemas.openxmlformats.org/officeDocument/2006/relationships/image" Target="../media/image135.png"/><Relationship Id="rId22" Type="http://schemas.openxmlformats.org/officeDocument/2006/relationships/image" Target="../media/image143.png"/><Relationship Id="rId27" Type="http://schemas.openxmlformats.org/officeDocument/2006/relationships/image" Target="../media/image148.png"/><Relationship Id="rId30" Type="http://schemas.openxmlformats.org/officeDocument/2006/relationships/image" Target="../media/image15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0.png"/><Relationship Id="rId13" Type="http://schemas.openxmlformats.org/officeDocument/2006/relationships/image" Target="../media/image165.png"/><Relationship Id="rId18" Type="http://schemas.openxmlformats.org/officeDocument/2006/relationships/image" Target="../media/image170.png"/><Relationship Id="rId3" Type="http://schemas.openxmlformats.org/officeDocument/2006/relationships/image" Target="../media/image155.png"/><Relationship Id="rId21" Type="http://schemas.openxmlformats.org/officeDocument/2006/relationships/image" Target="../media/image173.png"/><Relationship Id="rId7" Type="http://schemas.openxmlformats.org/officeDocument/2006/relationships/image" Target="../media/image159.png"/><Relationship Id="rId12" Type="http://schemas.openxmlformats.org/officeDocument/2006/relationships/image" Target="../media/image164.png"/><Relationship Id="rId17" Type="http://schemas.openxmlformats.org/officeDocument/2006/relationships/image" Target="../media/image169.png"/><Relationship Id="rId2" Type="http://schemas.openxmlformats.org/officeDocument/2006/relationships/image" Target="../media/image154.png"/><Relationship Id="rId16" Type="http://schemas.openxmlformats.org/officeDocument/2006/relationships/image" Target="../media/image168.png"/><Relationship Id="rId20" Type="http://schemas.openxmlformats.org/officeDocument/2006/relationships/image" Target="../media/image17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8.png"/><Relationship Id="rId11" Type="http://schemas.openxmlformats.org/officeDocument/2006/relationships/image" Target="../media/image163.png"/><Relationship Id="rId5" Type="http://schemas.openxmlformats.org/officeDocument/2006/relationships/image" Target="../media/image157.png"/><Relationship Id="rId15" Type="http://schemas.openxmlformats.org/officeDocument/2006/relationships/image" Target="../media/image167.png"/><Relationship Id="rId23" Type="http://schemas.openxmlformats.org/officeDocument/2006/relationships/image" Target="../media/image175.png"/><Relationship Id="rId10" Type="http://schemas.openxmlformats.org/officeDocument/2006/relationships/image" Target="../media/image162.png"/><Relationship Id="rId19" Type="http://schemas.openxmlformats.org/officeDocument/2006/relationships/image" Target="../media/image171.png"/><Relationship Id="rId4" Type="http://schemas.openxmlformats.org/officeDocument/2006/relationships/image" Target="../media/image156.png"/><Relationship Id="rId9" Type="http://schemas.openxmlformats.org/officeDocument/2006/relationships/image" Target="../media/image161.png"/><Relationship Id="rId14" Type="http://schemas.openxmlformats.org/officeDocument/2006/relationships/image" Target="../media/image166.png"/><Relationship Id="rId22" Type="http://schemas.openxmlformats.org/officeDocument/2006/relationships/image" Target="../media/image17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2.png"/><Relationship Id="rId13" Type="http://schemas.openxmlformats.org/officeDocument/2006/relationships/image" Target="../media/image187.png"/><Relationship Id="rId18" Type="http://schemas.openxmlformats.org/officeDocument/2006/relationships/image" Target="../media/image192.png"/><Relationship Id="rId3" Type="http://schemas.openxmlformats.org/officeDocument/2006/relationships/image" Target="../media/image177.png"/><Relationship Id="rId7" Type="http://schemas.openxmlformats.org/officeDocument/2006/relationships/image" Target="../media/image181.png"/><Relationship Id="rId12" Type="http://schemas.openxmlformats.org/officeDocument/2006/relationships/image" Target="../media/image186.png"/><Relationship Id="rId17" Type="http://schemas.openxmlformats.org/officeDocument/2006/relationships/image" Target="../media/image191.png"/><Relationship Id="rId2" Type="http://schemas.openxmlformats.org/officeDocument/2006/relationships/image" Target="../media/image176.png"/><Relationship Id="rId16" Type="http://schemas.openxmlformats.org/officeDocument/2006/relationships/image" Target="../media/image19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0.png"/><Relationship Id="rId11" Type="http://schemas.openxmlformats.org/officeDocument/2006/relationships/image" Target="../media/image185.png"/><Relationship Id="rId5" Type="http://schemas.openxmlformats.org/officeDocument/2006/relationships/image" Target="../media/image179.png"/><Relationship Id="rId15" Type="http://schemas.openxmlformats.org/officeDocument/2006/relationships/image" Target="../media/image189.png"/><Relationship Id="rId10" Type="http://schemas.openxmlformats.org/officeDocument/2006/relationships/image" Target="../media/image184.png"/><Relationship Id="rId19" Type="http://schemas.openxmlformats.org/officeDocument/2006/relationships/image" Target="../media/image193.png"/><Relationship Id="rId4" Type="http://schemas.openxmlformats.org/officeDocument/2006/relationships/image" Target="../media/image178.png"/><Relationship Id="rId9" Type="http://schemas.openxmlformats.org/officeDocument/2006/relationships/image" Target="../media/image183.png"/><Relationship Id="rId14" Type="http://schemas.openxmlformats.org/officeDocument/2006/relationships/image" Target="../media/image18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0.png"/><Relationship Id="rId13" Type="http://schemas.openxmlformats.org/officeDocument/2006/relationships/image" Target="../media/image205.png"/><Relationship Id="rId3" Type="http://schemas.openxmlformats.org/officeDocument/2006/relationships/image" Target="../media/image195.png"/><Relationship Id="rId7" Type="http://schemas.openxmlformats.org/officeDocument/2006/relationships/image" Target="../media/image199.png"/><Relationship Id="rId12" Type="http://schemas.openxmlformats.org/officeDocument/2006/relationships/image" Target="../media/image204.png"/><Relationship Id="rId17" Type="http://schemas.openxmlformats.org/officeDocument/2006/relationships/image" Target="../media/image209.png"/><Relationship Id="rId2" Type="http://schemas.openxmlformats.org/officeDocument/2006/relationships/image" Target="../media/image194.png"/><Relationship Id="rId16" Type="http://schemas.openxmlformats.org/officeDocument/2006/relationships/image" Target="../media/image20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8.png"/><Relationship Id="rId11" Type="http://schemas.openxmlformats.org/officeDocument/2006/relationships/image" Target="../media/image203.png"/><Relationship Id="rId5" Type="http://schemas.openxmlformats.org/officeDocument/2006/relationships/image" Target="../media/image197.png"/><Relationship Id="rId15" Type="http://schemas.openxmlformats.org/officeDocument/2006/relationships/image" Target="../media/image207.png"/><Relationship Id="rId10" Type="http://schemas.openxmlformats.org/officeDocument/2006/relationships/image" Target="../media/image202.png"/><Relationship Id="rId4" Type="http://schemas.openxmlformats.org/officeDocument/2006/relationships/image" Target="../media/image196.png"/><Relationship Id="rId9" Type="http://schemas.openxmlformats.org/officeDocument/2006/relationships/image" Target="../media/image201.png"/><Relationship Id="rId14" Type="http://schemas.openxmlformats.org/officeDocument/2006/relationships/image" Target="../media/image20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3810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8706488" y="0"/>
            <a:ext cx="9581512" cy="10287000"/>
          </a:xfrm>
          <a:custGeom>
            <a:avLst/>
            <a:gdLst/>
            <a:ahLst/>
            <a:cxnLst/>
            <a:rect l="l" t="t" r="r" b="b"/>
            <a:pathLst>
              <a:path w="9581512" h="10287000">
                <a:moveTo>
                  <a:pt x="0" y="0"/>
                </a:moveTo>
                <a:lnTo>
                  <a:pt x="9581512" y="0"/>
                </a:lnTo>
                <a:lnTo>
                  <a:pt x="9581512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1965952" y="634055"/>
            <a:ext cx="4364182" cy="9652945"/>
          </a:xfrm>
          <a:custGeom>
            <a:avLst/>
            <a:gdLst/>
            <a:ahLst/>
            <a:cxnLst/>
            <a:rect l="l" t="t" r="r" b="b"/>
            <a:pathLst>
              <a:path w="4364182" h="9652945">
                <a:moveTo>
                  <a:pt x="0" y="0"/>
                </a:moveTo>
                <a:lnTo>
                  <a:pt x="4364182" y="0"/>
                </a:lnTo>
                <a:lnTo>
                  <a:pt x="4364182" y="9652945"/>
                </a:lnTo>
                <a:lnTo>
                  <a:pt x="0" y="965294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746131" y="876261"/>
            <a:ext cx="8432981" cy="2730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83"/>
              </a:lnSpc>
            </a:pPr>
            <a:r>
              <a:rPr lang="en-US" sz="6068" b="1">
                <a:solidFill>
                  <a:srgbClr val="093264"/>
                </a:solidFill>
                <a:latin typeface="Inter Bold"/>
                <a:ea typeface="Inter Bold"/>
                <a:cs typeface="Inter Bold"/>
                <a:sym typeface="Inter Bold"/>
              </a:rPr>
              <a:t>Sign Language Recognition and Sentence </a:t>
            </a:r>
            <a:r>
              <a:rPr lang="en-US" sz="6068" b="1">
                <a:solidFill>
                  <a:srgbClr val="081A37"/>
                </a:solidFill>
                <a:latin typeface="Inter Bold"/>
                <a:ea typeface="Inter Bold"/>
                <a:cs typeface="Inter Bold"/>
                <a:sym typeface="Inter Bold"/>
              </a:rPr>
              <a:t>Generation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64403" y="3677578"/>
            <a:ext cx="6605822" cy="17848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165"/>
              </a:lnSpc>
            </a:pPr>
            <a:r>
              <a:rPr lang="en-US" sz="5969" b="1">
                <a:solidFill>
                  <a:srgbClr val="593EA1"/>
                </a:solidFill>
                <a:latin typeface="Inter Bold"/>
                <a:ea typeface="Inter Bold"/>
                <a:cs typeface="Inter Bold"/>
                <a:sym typeface="Inter Bold"/>
              </a:rPr>
              <a:t>Using CNN-LSTM</a:t>
            </a:r>
          </a:p>
          <a:p>
            <a:pPr algn="l">
              <a:lnSpc>
                <a:spcPts val="7165"/>
              </a:lnSpc>
            </a:pPr>
            <a:r>
              <a:rPr lang="en-US" sz="5969" b="1">
                <a:solidFill>
                  <a:srgbClr val="593EA1"/>
                </a:solidFill>
                <a:latin typeface="Inter Bold"/>
                <a:ea typeface="Inter Bold"/>
                <a:cs typeface="Inter Bold"/>
                <a:sym typeface="Inter Bold"/>
              </a:rPr>
              <a:t>with Attention</a:t>
            </a:r>
          </a:p>
        </p:txBody>
      </p:sp>
      <p:sp>
        <p:nvSpPr>
          <p:cNvPr id="7" name="Freeform 7"/>
          <p:cNvSpPr/>
          <p:nvPr/>
        </p:nvSpPr>
        <p:spPr>
          <a:xfrm>
            <a:off x="645330" y="5783021"/>
            <a:ext cx="4582938" cy="218640"/>
          </a:xfrm>
          <a:custGeom>
            <a:avLst/>
            <a:gdLst/>
            <a:ahLst/>
            <a:cxnLst/>
            <a:rect l="l" t="t" r="r" b="b"/>
            <a:pathLst>
              <a:path w="4582938" h="218640">
                <a:moveTo>
                  <a:pt x="0" y="0"/>
                </a:moveTo>
                <a:lnTo>
                  <a:pt x="4582938" y="0"/>
                </a:lnTo>
                <a:lnTo>
                  <a:pt x="4582938" y="218640"/>
                </a:lnTo>
                <a:lnTo>
                  <a:pt x="0" y="21864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790420" y="6258518"/>
            <a:ext cx="4004058" cy="3664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2"/>
              </a:lnSpc>
            </a:pPr>
            <a:r>
              <a:rPr lang="en-US" sz="2443" b="1" spc="-48">
                <a:solidFill>
                  <a:srgbClr val="1F3C66"/>
                </a:solidFill>
                <a:latin typeface="Inter Medium"/>
                <a:ea typeface="Inter Medium"/>
                <a:cs typeface="Inter Medium"/>
                <a:sym typeface="Inter Medium"/>
              </a:rPr>
              <a:t>Deep Learning Case Study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30461" y="7779175"/>
            <a:ext cx="8599289" cy="3212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6"/>
              </a:lnSpc>
            </a:pPr>
            <a:r>
              <a:rPr lang="en-US" sz="2188" b="1" spc="-43">
                <a:solidFill>
                  <a:srgbClr val="35537D"/>
                </a:solidFill>
                <a:latin typeface="Inter Medium"/>
                <a:ea typeface="Inter Medium"/>
                <a:cs typeface="Inter Medium"/>
                <a:sym typeface="Inter Medium"/>
              </a:rPr>
              <a:t>CSE (Artificial Intelligence and Machine Learning)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30461" y="8291244"/>
            <a:ext cx="8599289" cy="3212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6"/>
              </a:lnSpc>
            </a:pPr>
            <a:r>
              <a:rPr lang="en-US" sz="2188" b="1" spc="-43">
                <a:solidFill>
                  <a:srgbClr val="35537D"/>
                </a:solidFill>
                <a:latin typeface="Inter Medium"/>
                <a:ea typeface="Inter Medium"/>
                <a:cs typeface="Inter Medium"/>
                <a:sym typeface="Inter Medium"/>
              </a:rPr>
              <a:t>Chaitanya Bharathi Institute of Technology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30461" y="7267106"/>
            <a:ext cx="8599289" cy="3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6"/>
              </a:lnSpc>
            </a:pPr>
            <a:r>
              <a:rPr lang="en-US" sz="2188" b="1" spc="-43" dirty="0">
                <a:solidFill>
                  <a:srgbClr val="35537D"/>
                </a:solidFill>
                <a:latin typeface="Inter Medium"/>
                <a:ea typeface="Inter Medium"/>
                <a:cs typeface="Inter Medium"/>
                <a:sym typeface="Inter Medium"/>
              </a:rPr>
              <a:t>B. </a:t>
            </a:r>
            <a:r>
              <a:rPr lang="en-US" sz="2188" b="1" spc="-43" dirty="0" err="1">
                <a:solidFill>
                  <a:srgbClr val="35537D"/>
                </a:solidFill>
                <a:latin typeface="Inter Medium"/>
                <a:ea typeface="Inter Medium"/>
                <a:cs typeface="Inter Medium"/>
                <a:sym typeface="Inter Medium"/>
              </a:rPr>
              <a:t>Srijay</a:t>
            </a:r>
            <a:r>
              <a:rPr lang="en-US" sz="2188" b="1" spc="-43" dirty="0">
                <a:solidFill>
                  <a:srgbClr val="35537D"/>
                </a:solidFill>
                <a:latin typeface="Inter Medium"/>
                <a:ea typeface="Inter Medium"/>
                <a:cs typeface="Inter Medium"/>
                <a:sym typeface="Inter Medium"/>
              </a:rPr>
              <a:t> Ram-160124748095 | B. Shashi Nayak-160124748098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30461" y="8818373"/>
            <a:ext cx="8599289" cy="3212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6"/>
              </a:lnSpc>
            </a:pPr>
            <a:r>
              <a:rPr lang="en-US" sz="2188" b="1" spc="-43">
                <a:solidFill>
                  <a:srgbClr val="35537D"/>
                </a:solidFill>
                <a:latin typeface="Inter Medium"/>
                <a:ea typeface="Inter Medium"/>
                <a:cs typeface="Inter Medium"/>
                <a:sym typeface="Inter Medium"/>
              </a:rPr>
              <a:t>2026–27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4361330" y="0"/>
            <a:ext cx="3926670" cy="10287000"/>
          </a:xfrm>
          <a:custGeom>
            <a:avLst/>
            <a:gdLst/>
            <a:ahLst/>
            <a:cxnLst/>
            <a:rect l="l" t="t" r="r" b="b"/>
            <a:pathLst>
              <a:path w="3926670" h="10287000">
                <a:moveTo>
                  <a:pt x="0" y="0"/>
                </a:moveTo>
                <a:lnTo>
                  <a:pt x="3926670" y="0"/>
                </a:lnTo>
                <a:lnTo>
                  <a:pt x="392667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400203" y="782897"/>
            <a:ext cx="10878927" cy="7624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30"/>
              </a:lnSpc>
            </a:pPr>
            <a:r>
              <a:rPr lang="en-US" sz="5484" b="1" spc="-53">
                <a:solidFill>
                  <a:srgbClr val="0B3460"/>
                </a:solidFill>
                <a:latin typeface="Inter Bold"/>
                <a:ea typeface="Inter Bold"/>
                <a:cs typeface="Inter Bold"/>
                <a:sym typeface="Inter Bold"/>
              </a:rPr>
              <a:t>Problem Statement &amp; Motivation</a:t>
            </a:r>
          </a:p>
        </p:txBody>
      </p:sp>
      <p:sp>
        <p:nvSpPr>
          <p:cNvPr id="5" name="Freeform 5"/>
          <p:cNvSpPr/>
          <p:nvPr/>
        </p:nvSpPr>
        <p:spPr>
          <a:xfrm>
            <a:off x="426574" y="1497682"/>
            <a:ext cx="3281340" cy="437279"/>
          </a:xfrm>
          <a:custGeom>
            <a:avLst/>
            <a:gdLst/>
            <a:ahLst/>
            <a:cxnLst/>
            <a:rect l="l" t="t" r="r" b="b"/>
            <a:pathLst>
              <a:path w="3281340" h="437279">
                <a:moveTo>
                  <a:pt x="0" y="0"/>
                </a:moveTo>
                <a:lnTo>
                  <a:pt x="3281340" y="0"/>
                </a:lnTo>
                <a:lnTo>
                  <a:pt x="3281340" y="437280"/>
                </a:lnTo>
                <a:lnTo>
                  <a:pt x="0" y="4372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426574" y="2350377"/>
            <a:ext cx="10248718" cy="3443576"/>
          </a:xfrm>
          <a:custGeom>
            <a:avLst/>
            <a:gdLst/>
            <a:ahLst/>
            <a:cxnLst/>
            <a:rect l="l" t="t" r="r" b="b"/>
            <a:pathLst>
              <a:path w="10248718" h="3443576">
                <a:moveTo>
                  <a:pt x="0" y="0"/>
                </a:moveTo>
                <a:lnTo>
                  <a:pt x="10248718" y="0"/>
                </a:lnTo>
                <a:lnTo>
                  <a:pt x="10248718" y="3443576"/>
                </a:lnTo>
                <a:lnTo>
                  <a:pt x="0" y="344357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645330" y="2776725"/>
            <a:ext cx="1968804" cy="1945894"/>
          </a:xfrm>
          <a:custGeom>
            <a:avLst/>
            <a:gdLst/>
            <a:ahLst/>
            <a:cxnLst/>
            <a:rect l="l" t="t" r="r" b="b"/>
            <a:pathLst>
              <a:path w="1968804" h="1945894">
                <a:moveTo>
                  <a:pt x="0" y="0"/>
                </a:moveTo>
                <a:lnTo>
                  <a:pt x="1968804" y="0"/>
                </a:lnTo>
                <a:lnTo>
                  <a:pt x="1968804" y="1945893"/>
                </a:lnTo>
                <a:lnTo>
                  <a:pt x="0" y="194589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836597" y="4833092"/>
            <a:ext cx="1602573" cy="2817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53"/>
              </a:lnSpc>
            </a:pPr>
            <a:r>
              <a:rPr lang="en-US" sz="1810" b="1" spc="-53">
                <a:solidFill>
                  <a:srgbClr val="314669"/>
                </a:solidFill>
                <a:latin typeface="Inter Bold"/>
                <a:ea typeface="Inter Bold"/>
                <a:cs typeface="Inter Bold"/>
                <a:sym typeface="Inter Bold"/>
              </a:rPr>
              <a:t>ASL Hand Sign</a:t>
            </a:r>
          </a:p>
        </p:txBody>
      </p:sp>
      <p:sp>
        <p:nvSpPr>
          <p:cNvPr id="9" name="Freeform 9"/>
          <p:cNvSpPr/>
          <p:nvPr/>
        </p:nvSpPr>
        <p:spPr>
          <a:xfrm>
            <a:off x="2603196" y="3421712"/>
            <a:ext cx="667206" cy="655919"/>
          </a:xfrm>
          <a:custGeom>
            <a:avLst/>
            <a:gdLst/>
            <a:ahLst/>
            <a:cxnLst/>
            <a:rect l="l" t="t" r="r" b="b"/>
            <a:pathLst>
              <a:path w="667206" h="655919">
                <a:moveTo>
                  <a:pt x="0" y="0"/>
                </a:moveTo>
                <a:lnTo>
                  <a:pt x="667206" y="0"/>
                </a:lnTo>
                <a:lnTo>
                  <a:pt x="667206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3259464" y="2776725"/>
            <a:ext cx="2187560" cy="1945894"/>
          </a:xfrm>
          <a:custGeom>
            <a:avLst/>
            <a:gdLst/>
            <a:ahLst/>
            <a:cxnLst/>
            <a:rect l="l" t="t" r="r" b="b"/>
            <a:pathLst>
              <a:path w="2187560" h="1945894">
                <a:moveTo>
                  <a:pt x="0" y="0"/>
                </a:moveTo>
                <a:lnTo>
                  <a:pt x="2187560" y="0"/>
                </a:lnTo>
                <a:lnTo>
                  <a:pt x="2187560" y="1945893"/>
                </a:lnTo>
                <a:lnTo>
                  <a:pt x="0" y="194589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3431810" y="4833092"/>
            <a:ext cx="1823537" cy="2817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53"/>
              </a:lnSpc>
            </a:pPr>
            <a:r>
              <a:rPr lang="en-US" sz="1810" b="1" spc="-53">
                <a:solidFill>
                  <a:srgbClr val="314669"/>
                </a:solidFill>
                <a:latin typeface="Inter Bold"/>
                <a:ea typeface="Inter Bold"/>
                <a:cs typeface="Inter Bold"/>
                <a:sym typeface="Inter Bold"/>
              </a:rPr>
              <a:t>Computer Vision</a:t>
            </a:r>
          </a:p>
        </p:txBody>
      </p:sp>
      <p:sp>
        <p:nvSpPr>
          <p:cNvPr id="12" name="Freeform 12"/>
          <p:cNvSpPr/>
          <p:nvPr/>
        </p:nvSpPr>
        <p:spPr>
          <a:xfrm>
            <a:off x="5217330" y="3421712"/>
            <a:ext cx="885962" cy="655919"/>
          </a:xfrm>
          <a:custGeom>
            <a:avLst/>
            <a:gdLst/>
            <a:ahLst/>
            <a:cxnLst/>
            <a:rect l="l" t="t" r="r" b="b"/>
            <a:pathLst>
              <a:path w="885962" h="655919">
                <a:moveTo>
                  <a:pt x="0" y="0"/>
                </a:moveTo>
                <a:lnTo>
                  <a:pt x="885962" y="0"/>
                </a:lnTo>
                <a:lnTo>
                  <a:pt x="885962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5873598" y="2776725"/>
            <a:ext cx="1968804" cy="1945894"/>
          </a:xfrm>
          <a:custGeom>
            <a:avLst/>
            <a:gdLst/>
            <a:ahLst/>
            <a:cxnLst/>
            <a:rect l="l" t="t" r="r" b="b"/>
            <a:pathLst>
              <a:path w="1968804" h="1945894">
                <a:moveTo>
                  <a:pt x="0" y="0"/>
                </a:moveTo>
                <a:lnTo>
                  <a:pt x="1968804" y="0"/>
                </a:lnTo>
                <a:lnTo>
                  <a:pt x="1968804" y="1945893"/>
                </a:lnTo>
                <a:lnTo>
                  <a:pt x="0" y="194589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6155232" y="4833092"/>
            <a:ext cx="1576987" cy="2817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53"/>
              </a:lnSpc>
            </a:pPr>
            <a:r>
              <a:rPr lang="en-US" sz="1810" b="1" spc="-53">
                <a:solidFill>
                  <a:srgbClr val="314669"/>
                </a:solidFill>
                <a:latin typeface="Inter Bold"/>
                <a:ea typeface="Inter Bold"/>
                <a:cs typeface="Inter Bold"/>
                <a:sym typeface="Inter Bold"/>
              </a:rPr>
              <a:t>Deep Learning</a:t>
            </a:r>
          </a:p>
        </p:txBody>
      </p:sp>
      <p:sp>
        <p:nvSpPr>
          <p:cNvPr id="15" name="Freeform 15"/>
          <p:cNvSpPr/>
          <p:nvPr/>
        </p:nvSpPr>
        <p:spPr>
          <a:xfrm>
            <a:off x="7831464" y="3421712"/>
            <a:ext cx="885962" cy="655919"/>
          </a:xfrm>
          <a:custGeom>
            <a:avLst/>
            <a:gdLst/>
            <a:ahLst/>
            <a:cxnLst/>
            <a:rect l="l" t="t" r="r" b="b"/>
            <a:pathLst>
              <a:path w="885962" h="655919">
                <a:moveTo>
                  <a:pt x="0" y="0"/>
                </a:moveTo>
                <a:lnTo>
                  <a:pt x="885962" y="0"/>
                </a:lnTo>
                <a:lnTo>
                  <a:pt x="885962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8487732" y="2776725"/>
            <a:ext cx="1968804" cy="1945894"/>
          </a:xfrm>
          <a:custGeom>
            <a:avLst/>
            <a:gdLst/>
            <a:ahLst/>
            <a:cxnLst/>
            <a:rect l="l" t="t" r="r" b="b"/>
            <a:pathLst>
              <a:path w="1968804" h="1945894">
                <a:moveTo>
                  <a:pt x="0" y="0"/>
                </a:moveTo>
                <a:lnTo>
                  <a:pt x="1968804" y="0"/>
                </a:lnTo>
                <a:lnTo>
                  <a:pt x="1968804" y="1945893"/>
                </a:lnTo>
                <a:lnTo>
                  <a:pt x="0" y="1945893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426574" y="5990729"/>
            <a:ext cx="10248718" cy="3443576"/>
          </a:xfrm>
          <a:custGeom>
            <a:avLst/>
            <a:gdLst/>
            <a:ahLst/>
            <a:cxnLst/>
            <a:rect l="l" t="t" r="r" b="b"/>
            <a:pathLst>
              <a:path w="10248718" h="3443576">
                <a:moveTo>
                  <a:pt x="0" y="0"/>
                </a:moveTo>
                <a:lnTo>
                  <a:pt x="10248718" y="0"/>
                </a:lnTo>
                <a:lnTo>
                  <a:pt x="10248718" y="3443576"/>
                </a:lnTo>
                <a:lnTo>
                  <a:pt x="0" y="3443576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864086" y="6209369"/>
            <a:ext cx="2406316" cy="2372241"/>
          </a:xfrm>
          <a:custGeom>
            <a:avLst/>
            <a:gdLst/>
            <a:ahLst/>
            <a:cxnLst/>
            <a:rect l="l" t="t" r="r" b="b"/>
            <a:pathLst>
              <a:path w="2406316" h="2372241">
                <a:moveTo>
                  <a:pt x="0" y="0"/>
                </a:moveTo>
                <a:lnTo>
                  <a:pt x="2406316" y="0"/>
                </a:lnTo>
                <a:lnTo>
                  <a:pt x="2406316" y="2372241"/>
                </a:lnTo>
                <a:lnTo>
                  <a:pt x="0" y="2372241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1537771" y="8628424"/>
            <a:ext cx="1113196" cy="2817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53"/>
              </a:lnSpc>
            </a:pPr>
            <a:r>
              <a:rPr lang="en-US" sz="1810" b="1" spc="-53">
                <a:solidFill>
                  <a:srgbClr val="314669"/>
                </a:solidFill>
                <a:latin typeface="Inter Bold"/>
                <a:ea typeface="Inter Bold"/>
                <a:cs typeface="Inter Bold"/>
                <a:sym typeface="Inter Bold"/>
              </a:rPr>
              <a:t>Hand Sign</a:t>
            </a:r>
          </a:p>
        </p:txBody>
      </p:sp>
      <p:sp>
        <p:nvSpPr>
          <p:cNvPr id="20" name="Freeform 20"/>
          <p:cNvSpPr/>
          <p:nvPr/>
        </p:nvSpPr>
        <p:spPr>
          <a:xfrm>
            <a:off x="3259464" y="7062064"/>
            <a:ext cx="885962" cy="655919"/>
          </a:xfrm>
          <a:custGeom>
            <a:avLst/>
            <a:gdLst/>
            <a:ahLst/>
            <a:cxnLst/>
            <a:rect l="l" t="t" r="r" b="b"/>
            <a:pathLst>
              <a:path w="885962" h="655919">
                <a:moveTo>
                  <a:pt x="0" y="0"/>
                </a:moveTo>
                <a:lnTo>
                  <a:pt x="885962" y="0"/>
                </a:lnTo>
                <a:lnTo>
                  <a:pt x="885962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4134488" y="6209369"/>
            <a:ext cx="2625072" cy="2372241"/>
          </a:xfrm>
          <a:custGeom>
            <a:avLst/>
            <a:gdLst/>
            <a:ahLst/>
            <a:cxnLst/>
            <a:rect l="l" t="t" r="r" b="b"/>
            <a:pathLst>
              <a:path w="2625072" h="2372241">
                <a:moveTo>
                  <a:pt x="0" y="0"/>
                </a:moveTo>
                <a:lnTo>
                  <a:pt x="2625072" y="0"/>
                </a:lnTo>
                <a:lnTo>
                  <a:pt x="2625072" y="2372241"/>
                </a:lnTo>
                <a:lnTo>
                  <a:pt x="0" y="2372241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6529866" y="7062064"/>
            <a:ext cx="875024" cy="655919"/>
          </a:xfrm>
          <a:custGeom>
            <a:avLst/>
            <a:gdLst/>
            <a:ahLst/>
            <a:cxnLst/>
            <a:rect l="l" t="t" r="r" b="b"/>
            <a:pathLst>
              <a:path w="875024" h="655919">
                <a:moveTo>
                  <a:pt x="0" y="0"/>
                </a:moveTo>
                <a:lnTo>
                  <a:pt x="875024" y="0"/>
                </a:lnTo>
                <a:lnTo>
                  <a:pt x="875024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</p:sp>
      <p:sp>
        <p:nvSpPr>
          <p:cNvPr id="23" name="Freeform 23"/>
          <p:cNvSpPr/>
          <p:nvPr/>
        </p:nvSpPr>
        <p:spPr>
          <a:xfrm>
            <a:off x="7393952" y="6209369"/>
            <a:ext cx="2625072" cy="2372241"/>
          </a:xfrm>
          <a:custGeom>
            <a:avLst/>
            <a:gdLst/>
            <a:ahLst/>
            <a:cxnLst/>
            <a:rect l="l" t="t" r="r" b="b"/>
            <a:pathLst>
              <a:path w="2625072" h="2372241">
                <a:moveTo>
                  <a:pt x="0" y="0"/>
                </a:moveTo>
                <a:lnTo>
                  <a:pt x="2625072" y="0"/>
                </a:lnTo>
                <a:lnTo>
                  <a:pt x="2625072" y="2372241"/>
                </a:lnTo>
                <a:lnTo>
                  <a:pt x="0" y="2372241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</p:sp>
      <p:sp>
        <p:nvSpPr>
          <p:cNvPr id="24" name="TextBox 24"/>
          <p:cNvSpPr txBox="1"/>
          <p:nvPr/>
        </p:nvSpPr>
        <p:spPr>
          <a:xfrm>
            <a:off x="7580304" y="8628424"/>
            <a:ext cx="2281751" cy="2817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53"/>
              </a:lnSpc>
            </a:pPr>
            <a:r>
              <a:rPr lang="en-US" sz="1810" b="1" spc="-53">
                <a:solidFill>
                  <a:srgbClr val="314669"/>
                </a:solidFill>
                <a:latin typeface="Inter Bold"/>
                <a:ea typeface="Inter Bold"/>
                <a:cs typeface="Inter Bold"/>
                <a:sym typeface="Inter Bold"/>
              </a:rPr>
              <a:t>Recognized Meaning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1203508" y="2584646"/>
            <a:ext cx="2110950" cy="9546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08"/>
              </a:lnSpc>
            </a:pPr>
            <a:r>
              <a:rPr lang="en-US" sz="1863" b="1" spc="-55">
                <a:solidFill>
                  <a:srgbClr val="314669"/>
                </a:solidFill>
                <a:latin typeface="Inter Medium"/>
                <a:ea typeface="Inter Medium"/>
                <a:cs typeface="Inter Medium"/>
                <a:sym typeface="Inter Medium"/>
              </a:rPr>
              <a:t>Sign language is</a:t>
            </a:r>
          </a:p>
          <a:p>
            <a:pPr algn="l">
              <a:lnSpc>
                <a:spcPts val="2608"/>
              </a:lnSpc>
            </a:pPr>
            <a:r>
              <a:rPr lang="en-US" sz="1863" b="1" spc="-55">
                <a:solidFill>
                  <a:srgbClr val="314669"/>
                </a:solidFill>
                <a:latin typeface="Inter Medium"/>
                <a:ea typeface="Inter Medium"/>
                <a:cs typeface="Inter Medium"/>
                <a:sym typeface="Inter Medium"/>
              </a:rPr>
              <a:t>primarily visual and</a:t>
            </a:r>
          </a:p>
          <a:p>
            <a:pPr algn="l">
              <a:lnSpc>
                <a:spcPts val="2608"/>
              </a:lnSpc>
            </a:pPr>
            <a:r>
              <a:rPr lang="en-US" sz="1863" b="1" spc="-55">
                <a:solidFill>
                  <a:srgbClr val="314669"/>
                </a:solidFill>
                <a:latin typeface="Inter Medium"/>
                <a:ea typeface="Inter Medium"/>
                <a:cs typeface="Inter Medium"/>
                <a:sym typeface="Inter Medium"/>
              </a:rPr>
              <a:t>gesture-based</a:t>
            </a:r>
          </a:p>
        </p:txBody>
      </p:sp>
      <p:sp>
        <p:nvSpPr>
          <p:cNvPr id="26" name="Freeform 26"/>
          <p:cNvSpPr/>
          <p:nvPr/>
        </p:nvSpPr>
        <p:spPr>
          <a:xfrm>
            <a:off x="11101866" y="3848060"/>
            <a:ext cx="2406316" cy="229572"/>
          </a:xfrm>
          <a:custGeom>
            <a:avLst/>
            <a:gdLst/>
            <a:ahLst/>
            <a:cxnLst/>
            <a:rect l="l" t="t" r="r" b="b"/>
            <a:pathLst>
              <a:path w="2406316" h="229572">
                <a:moveTo>
                  <a:pt x="0" y="0"/>
                </a:moveTo>
                <a:lnTo>
                  <a:pt x="2406316" y="0"/>
                </a:lnTo>
                <a:lnTo>
                  <a:pt x="2406316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/>
            </a:stretch>
          </a:blipFill>
        </p:spPr>
      </p:sp>
      <p:sp>
        <p:nvSpPr>
          <p:cNvPr id="27" name="TextBox 27"/>
          <p:cNvSpPr txBox="1"/>
          <p:nvPr/>
        </p:nvSpPr>
        <p:spPr>
          <a:xfrm>
            <a:off x="11201288" y="4286521"/>
            <a:ext cx="2332891" cy="9546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08"/>
              </a:lnSpc>
            </a:pPr>
            <a:r>
              <a:rPr lang="en-US" sz="1863" b="1" spc="-55">
                <a:solidFill>
                  <a:srgbClr val="314669"/>
                </a:solidFill>
                <a:latin typeface="Inter Medium"/>
                <a:ea typeface="Inter Medium"/>
                <a:cs typeface="Inter Medium"/>
                <a:sym typeface="Inter Medium"/>
              </a:rPr>
              <a:t>Manual interpretation requires trained</a:t>
            </a:r>
          </a:p>
          <a:p>
            <a:pPr algn="l">
              <a:lnSpc>
                <a:spcPts val="2608"/>
              </a:lnSpc>
            </a:pPr>
            <a:r>
              <a:rPr lang="en-US" sz="1863" b="1" spc="-55">
                <a:solidFill>
                  <a:srgbClr val="314669"/>
                </a:solidFill>
                <a:latin typeface="Inter Medium"/>
                <a:ea typeface="Inter Medium"/>
                <a:cs typeface="Inter Medium"/>
                <a:sym typeface="Inter Medium"/>
              </a:rPr>
              <a:t>human interpreters</a:t>
            </a:r>
          </a:p>
        </p:txBody>
      </p:sp>
      <p:sp>
        <p:nvSpPr>
          <p:cNvPr id="28" name="Freeform 28"/>
          <p:cNvSpPr/>
          <p:nvPr/>
        </p:nvSpPr>
        <p:spPr>
          <a:xfrm>
            <a:off x="11101866" y="5564382"/>
            <a:ext cx="2406316" cy="229572"/>
          </a:xfrm>
          <a:custGeom>
            <a:avLst/>
            <a:gdLst/>
            <a:ahLst/>
            <a:cxnLst/>
            <a:rect l="l" t="t" r="r" b="b"/>
            <a:pathLst>
              <a:path w="2406316" h="229572">
                <a:moveTo>
                  <a:pt x="0" y="0"/>
                </a:moveTo>
                <a:lnTo>
                  <a:pt x="2406316" y="0"/>
                </a:lnTo>
                <a:lnTo>
                  <a:pt x="2406316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/>
            </a:stretch>
          </a:blipFill>
        </p:spPr>
      </p:sp>
      <p:sp>
        <p:nvSpPr>
          <p:cNvPr id="29" name="TextBox 29"/>
          <p:cNvSpPr txBox="1"/>
          <p:nvPr/>
        </p:nvSpPr>
        <p:spPr>
          <a:xfrm>
            <a:off x="11202018" y="5973335"/>
            <a:ext cx="2259957" cy="9546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08"/>
              </a:lnSpc>
            </a:pPr>
            <a:r>
              <a:rPr lang="en-US" sz="1863" b="1" spc="-55">
                <a:solidFill>
                  <a:srgbClr val="314669"/>
                </a:solidFill>
                <a:latin typeface="Inter Medium"/>
                <a:ea typeface="Inter Medium"/>
                <a:cs typeface="Inter Medium"/>
                <a:sym typeface="Inter Medium"/>
              </a:rPr>
              <a:t>Computer vision can</a:t>
            </a:r>
          </a:p>
          <a:p>
            <a:pPr algn="l">
              <a:lnSpc>
                <a:spcPts val="2608"/>
              </a:lnSpc>
            </a:pPr>
            <a:r>
              <a:rPr lang="en-US" sz="1863" b="1" spc="-55">
                <a:solidFill>
                  <a:srgbClr val="314669"/>
                </a:solidFill>
                <a:latin typeface="Inter Medium"/>
                <a:ea typeface="Inter Medium"/>
                <a:cs typeface="Inter Medium"/>
                <a:sym typeface="Inter Medium"/>
              </a:rPr>
              <a:t>recognize visual</a:t>
            </a:r>
          </a:p>
          <a:p>
            <a:pPr algn="l">
              <a:lnSpc>
                <a:spcPts val="2608"/>
              </a:lnSpc>
            </a:pPr>
            <a:r>
              <a:rPr lang="en-US" sz="1863" b="1" spc="-55">
                <a:solidFill>
                  <a:srgbClr val="314669"/>
                </a:solidFill>
                <a:latin typeface="Inter Medium"/>
                <a:ea typeface="Inter Medium"/>
                <a:cs typeface="Inter Medium"/>
                <a:sym typeface="Inter Medium"/>
              </a:rPr>
              <a:t>hand-sign patterns</a:t>
            </a:r>
          </a:p>
        </p:txBody>
      </p:sp>
      <p:sp>
        <p:nvSpPr>
          <p:cNvPr id="30" name="Freeform 30"/>
          <p:cNvSpPr/>
          <p:nvPr/>
        </p:nvSpPr>
        <p:spPr>
          <a:xfrm>
            <a:off x="11101866" y="7280704"/>
            <a:ext cx="2406316" cy="229572"/>
          </a:xfrm>
          <a:custGeom>
            <a:avLst/>
            <a:gdLst/>
            <a:ahLst/>
            <a:cxnLst/>
            <a:rect l="l" t="t" r="r" b="b"/>
            <a:pathLst>
              <a:path w="2406316" h="229572">
                <a:moveTo>
                  <a:pt x="0" y="0"/>
                </a:moveTo>
                <a:lnTo>
                  <a:pt x="2406316" y="0"/>
                </a:lnTo>
                <a:lnTo>
                  <a:pt x="2406316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/>
            </a:stretch>
          </a:blipFill>
        </p:spPr>
      </p:sp>
      <p:sp>
        <p:nvSpPr>
          <p:cNvPr id="31" name="TextBox 31"/>
          <p:cNvSpPr txBox="1"/>
          <p:nvPr/>
        </p:nvSpPr>
        <p:spPr>
          <a:xfrm>
            <a:off x="11200188" y="7705331"/>
            <a:ext cx="2442894" cy="9546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08"/>
              </a:lnSpc>
            </a:pPr>
            <a:r>
              <a:rPr lang="en-US" sz="1863" b="1" spc="-55">
                <a:solidFill>
                  <a:srgbClr val="314669"/>
                </a:solidFill>
                <a:latin typeface="Inter Medium"/>
                <a:ea typeface="Inter Medium"/>
                <a:cs typeface="Inter Medium"/>
                <a:sym typeface="Inter Medium"/>
              </a:rPr>
              <a:t>Deep learning enables</a:t>
            </a:r>
          </a:p>
          <a:p>
            <a:pPr algn="l">
              <a:lnSpc>
                <a:spcPts val="2608"/>
              </a:lnSpc>
            </a:pPr>
            <a:r>
              <a:rPr lang="en-US" sz="1863" b="1" spc="-55">
                <a:solidFill>
                  <a:srgbClr val="314669"/>
                </a:solidFill>
                <a:latin typeface="Inter Medium"/>
                <a:ea typeface="Inter Medium"/>
                <a:cs typeface="Inter Medium"/>
                <a:sym typeface="Inter Medium"/>
              </a:rPr>
              <a:t>automatic sign</a:t>
            </a:r>
          </a:p>
          <a:p>
            <a:pPr algn="l">
              <a:lnSpc>
                <a:spcPts val="2608"/>
              </a:lnSpc>
            </a:pPr>
            <a:r>
              <a:rPr lang="en-US" sz="1863" b="1" spc="-55">
                <a:solidFill>
                  <a:srgbClr val="314669"/>
                </a:solidFill>
                <a:latin typeface="Inter Medium"/>
                <a:ea typeface="Inter Medium"/>
                <a:cs typeface="Inter Medium"/>
                <a:sym typeface="Inter Medium"/>
              </a:rPr>
              <a:t>classification</a:t>
            </a:r>
          </a:p>
        </p:txBody>
      </p:sp>
      <p:sp>
        <p:nvSpPr>
          <p:cNvPr id="32" name="Freeform 32"/>
          <p:cNvSpPr/>
          <p:nvPr/>
        </p:nvSpPr>
        <p:spPr>
          <a:xfrm>
            <a:off x="14361330" y="1924030"/>
            <a:ext cx="3926670" cy="8362970"/>
          </a:xfrm>
          <a:custGeom>
            <a:avLst/>
            <a:gdLst/>
            <a:ahLst/>
            <a:cxnLst/>
            <a:rect l="l" t="t" r="r" b="b"/>
            <a:pathLst>
              <a:path w="3926670" h="8362970">
                <a:moveTo>
                  <a:pt x="0" y="0"/>
                </a:moveTo>
                <a:lnTo>
                  <a:pt x="3926670" y="0"/>
                </a:lnTo>
                <a:lnTo>
                  <a:pt x="3926670" y="8362970"/>
                </a:lnTo>
                <a:lnTo>
                  <a:pt x="0" y="8362970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/>
            </a:stretch>
          </a:blipFill>
        </p:spPr>
      </p:sp>
      <p:sp>
        <p:nvSpPr>
          <p:cNvPr id="33" name="TextBox 33"/>
          <p:cNvSpPr txBox="1"/>
          <p:nvPr/>
        </p:nvSpPr>
        <p:spPr>
          <a:xfrm>
            <a:off x="8627577" y="4802932"/>
            <a:ext cx="1558269" cy="5330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04"/>
              </a:lnSpc>
            </a:pPr>
            <a:r>
              <a:rPr lang="en-US" sz="1696" b="1" spc="-50">
                <a:solidFill>
                  <a:srgbClr val="314669"/>
                </a:solidFill>
                <a:latin typeface="Inter Bold"/>
                <a:ea typeface="Inter Bold"/>
                <a:cs typeface="Inter Bold"/>
                <a:sym typeface="Inter Bold"/>
              </a:rPr>
              <a:t>Recognized</a:t>
            </a:r>
          </a:p>
          <a:p>
            <a:pPr algn="ctr">
              <a:lnSpc>
                <a:spcPts val="2204"/>
              </a:lnSpc>
            </a:pPr>
            <a:r>
              <a:rPr lang="en-US" sz="1696" b="1" spc="-50">
                <a:solidFill>
                  <a:srgbClr val="314669"/>
                </a:solidFill>
                <a:latin typeface="Inter Bold"/>
                <a:ea typeface="Inter Bold"/>
                <a:cs typeface="Inter Bold"/>
                <a:sym typeface="Inter Bold"/>
              </a:rPr>
              <a:t>Alphabet / Sign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4964905" y="8628424"/>
            <a:ext cx="956193" cy="2817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53"/>
              </a:lnSpc>
            </a:pPr>
            <a:r>
              <a:rPr lang="en-US" sz="1810" b="1" spc="-53">
                <a:solidFill>
                  <a:srgbClr val="314669"/>
                </a:solidFill>
                <a:latin typeface="Inter Bold"/>
                <a:ea typeface="Inter Bold"/>
                <a:cs typeface="Inter Bold"/>
                <a:sym typeface="Inter Bold"/>
              </a:rPr>
              <a:t>AI Model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427700" y="755774"/>
            <a:ext cx="10808099" cy="8388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66"/>
              </a:lnSpc>
            </a:pPr>
            <a:r>
              <a:rPr lang="en-US" sz="5554" b="1">
                <a:solidFill>
                  <a:srgbClr val="0A3662"/>
                </a:solidFill>
                <a:latin typeface="Inter Bold"/>
                <a:ea typeface="Inter Bold"/>
                <a:cs typeface="Inter Bold"/>
                <a:sym typeface="Inter Bold"/>
              </a:rPr>
              <a:t>Objectives &amp; System Overview</a:t>
            </a:r>
          </a:p>
        </p:txBody>
      </p:sp>
      <p:sp>
        <p:nvSpPr>
          <p:cNvPr id="4" name="Freeform 4"/>
          <p:cNvSpPr/>
          <p:nvPr/>
        </p:nvSpPr>
        <p:spPr>
          <a:xfrm>
            <a:off x="426574" y="1705390"/>
            <a:ext cx="3281340" cy="229572"/>
          </a:xfrm>
          <a:custGeom>
            <a:avLst/>
            <a:gdLst/>
            <a:ahLst/>
            <a:cxnLst/>
            <a:rect l="l" t="t" r="r" b="b"/>
            <a:pathLst>
              <a:path w="3281340" h="229572">
                <a:moveTo>
                  <a:pt x="0" y="0"/>
                </a:moveTo>
                <a:lnTo>
                  <a:pt x="3281340" y="0"/>
                </a:lnTo>
                <a:lnTo>
                  <a:pt x="3281340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426574" y="2142670"/>
            <a:ext cx="4582938" cy="3432644"/>
          </a:xfrm>
          <a:custGeom>
            <a:avLst/>
            <a:gdLst/>
            <a:ahLst/>
            <a:cxnLst/>
            <a:rect l="l" t="t" r="r" b="b"/>
            <a:pathLst>
              <a:path w="4582938" h="3432644">
                <a:moveTo>
                  <a:pt x="0" y="0"/>
                </a:moveTo>
                <a:lnTo>
                  <a:pt x="4582938" y="0"/>
                </a:lnTo>
                <a:lnTo>
                  <a:pt x="4582938" y="3432643"/>
                </a:lnTo>
                <a:lnTo>
                  <a:pt x="0" y="34326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864086" y="2995365"/>
            <a:ext cx="1531292" cy="1727254"/>
          </a:xfrm>
          <a:custGeom>
            <a:avLst/>
            <a:gdLst/>
            <a:ahLst/>
            <a:cxnLst/>
            <a:rect l="l" t="t" r="r" b="b"/>
            <a:pathLst>
              <a:path w="1531292" h="1727254">
                <a:moveTo>
                  <a:pt x="0" y="0"/>
                </a:moveTo>
                <a:lnTo>
                  <a:pt x="1531292" y="0"/>
                </a:lnTo>
                <a:lnTo>
                  <a:pt x="1531292" y="1727253"/>
                </a:lnTo>
                <a:lnTo>
                  <a:pt x="0" y="172725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171180" y="3451666"/>
            <a:ext cx="923228" cy="9280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448"/>
              </a:lnSpc>
            </a:pPr>
            <a:r>
              <a:rPr lang="en-US" sz="6206" b="1">
                <a:solidFill>
                  <a:srgbClr val="6C57B2"/>
                </a:solidFill>
                <a:latin typeface="Inter Bold"/>
                <a:ea typeface="Inter Bold"/>
                <a:cs typeface="Inter Bold"/>
                <a:sym typeface="Inter Bold"/>
              </a:rPr>
              <a:t>01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625328" y="3279718"/>
            <a:ext cx="2678906" cy="1205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82"/>
              </a:lnSpc>
            </a:pPr>
            <a:r>
              <a:rPr lang="en-US" sz="2188" b="1" spc="-43">
                <a:solidFill>
                  <a:srgbClr val="162D51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Recognize</a:t>
            </a:r>
          </a:p>
          <a:p>
            <a:pPr algn="l">
              <a:lnSpc>
                <a:spcPts val="3282"/>
              </a:lnSpc>
            </a:pPr>
            <a:r>
              <a:rPr lang="en-US" sz="2188" b="1" spc="-43">
                <a:solidFill>
                  <a:srgbClr val="162D51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individual ASL</a:t>
            </a:r>
          </a:p>
          <a:p>
            <a:pPr algn="l">
              <a:lnSpc>
                <a:spcPts val="3282"/>
              </a:lnSpc>
            </a:pPr>
            <a:r>
              <a:rPr lang="en-US" sz="2188" b="1" spc="-43">
                <a:solidFill>
                  <a:srgbClr val="162D51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hand signs</a:t>
            </a:r>
          </a:p>
        </p:txBody>
      </p:sp>
      <p:sp>
        <p:nvSpPr>
          <p:cNvPr id="9" name="Freeform 9"/>
          <p:cNvSpPr/>
          <p:nvPr/>
        </p:nvSpPr>
        <p:spPr>
          <a:xfrm>
            <a:off x="5217330" y="2142670"/>
            <a:ext cx="4801694" cy="3432644"/>
          </a:xfrm>
          <a:custGeom>
            <a:avLst/>
            <a:gdLst/>
            <a:ahLst/>
            <a:cxnLst/>
            <a:rect l="l" t="t" r="r" b="b"/>
            <a:pathLst>
              <a:path w="4801694" h="3432644">
                <a:moveTo>
                  <a:pt x="0" y="0"/>
                </a:moveTo>
                <a:lnTo>
                  <a:pt x="4801694" y="0"/>
                </a:lnTo>
                <a:lnTo>
                  <a:pt x="4801694" y="3432643"/>
                </a:lnTo>
                <a:lnTo>
                  <a:pt x="0" y="343264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5436086" y="2995365"/>
            <a:ext cx="1750048" cy="1727254"/>
          </a:xfrm>
          <a:custGeom>
            <a:avLst/>
            <a:gdLst/>
            <a:ahLst/>
            <a:cxnLst/>
            <a:rect l="l" t="t" r="r" b="b"/>
            <a:pathLst>
              <a:path w="1750048" h="1727254">
                <a:moveTo>
                  <a:pt x="0" y="0"/>
                </a:moveTo>
                <a:lnTo>
                  <a:pt x="1750048" y="0"/>
                </a:lnTo>
                <a:lnTo>
                  <a:pt x="1750048" y="1727253"/>
                </a:lnTo>
                <a:lnTo>
                  <a:pt x="0" y="172725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5886054" y="3496281"/>
            <a:ext cx="1054363" cy="8388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619"/>
              </a:lnSpc>
            </a:pPr>
            <a:r>
              <a:rPr lang="en-US" sz="5515" b="1" dirty="0">
                <a:solidFill>
                  <a:srgbClr val="0B9696"/>
                </a:solidFill>
                <a:latin typeface="Inter Bold"/>
                <a:ea typeface="Inter Bold"/>
                <a:cs typeface="Inter Bold"/>
                <a:sym typeface="Inter Bold"/>
              </a:rPr>
              <a:t>02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366992" y="3279718"/>
            <a:ext cx="2678906" cy="1205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82"/>
              </a:lnSpc>
            </a:pPr>
            <a:r>
              <a:rPr lang="en-US" sz="2188" b="1" spc="-43">
                <a:solidFill>
                  <a:srgbClr val="162D51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Extract</a:t>
            </a:r>
          </a:p>
          <a:p>
            <a:pPr algn="l">
              <a:lnSpc>
                <a:spcPts val="3282"/>
              </a:lnSpc>
            </a:pPr>
            <a:r>
              <a:rPr lang="en-US" sz="2188" b="1" spc="-43">
                <a:solidFill>
                  <a:srgbClr val="162D51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meaningful</a:t>
            </a:r>
          </a:p>
          <a:p>
            <a:pPr algn="l">
              <a:lnSpc>
                <a:spcPts val="3282"/>
              </a:lnSpc>
            </a:pPr>
            <a:r>
              <a:rPr lang="en-US" sz="2188" b="1" spc="-43">
                <a:solidFill>
                  <a:srgbClr val="162D51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visual features</a:t>
            </a:r>
          </a:p>
        </p:txBody>
      </p:sp>
      <p:sp>
        <p:nvSpPr>
          <p:cNvPr id="13" name="Freeform 13"/>
          <p:cNvSpPr/>
          <p:nvPr/>
        </p:nvSpPr>
        <p:spPr>
          <a:xfrm>
            <a:off x="426574" y="5783021"/>
            <a:ext cx="4582938" cy="3432644"/>
          </a:xfrm>
          <a:custGeom>
            <a:avLst/>
            <a:gdLst/>
            <a:ahLst/>
            <a:cxnLst/>
            <a:rect l="l" t="t" r="r" b="b"/>
            <a:pathLst>
              <a:path w="4582938" h="3432644">
                <a:moveTo>
                  <a:pt x="0" y="0"/>
                </a:moveTo>
                <a:lnTo>
                  <a:pt x="4582938" y="0"/>
                </a:lnTo>
                <a:lnTo>
                  <a:pt x="4582938" y="3432644"/>
                </a:lnTo>
                <a:lnTo>
                  <a:pt x="0" y="343264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864086" y="6428009"/>
            <a:ext cx="1531292" cy="1934962"/>
          </a:xfrm>
          <a:custGeom>
            <a:avLst/>
            <a:gdLst/>
            <a:ahLst/>
            <a:cxnLst/>
            <a:rect l="l" t="t" r="r" b="b"/>
            <a:pathLst>
              <a:path w="1531292" h="1934962">
                <a:moveTo>
                  <a:pt x="0" y="0"/>
                </a:moveTo>
                <a:lnTo>
                  <a:pt x="1531292" y="0"/>
                </a:lnTo>
                <a:lnTo>
                  <a:pt x="1531292" y="1934961"/>
                </a:lnTo>
                <a:lnTo>
                  <a:pt x="0" y="193496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1099325" y="6948000"/>
            <a:ext cx="1077297" cy="8114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472"/>
              </a:lnSpc>
            </a:pPr>
            <a:r>
              <a:rPr lang="en-US" sz="5393" b="1" dirty="0">
                <a:solidFill>
                  <a:srgbClr val="0A4D89"/>
                </a:solidFill>
                <a:latin typeface="Inter Bold"/>
                <a:ea typeface="Inter Bold"/>
                <a:cs typeface="Inter Bold"/>
                <a:sym typeface="Inter Bold"/>
              </a:rPr>
              <a:t>03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625328" y="6713590"/>
            <a:ext cx="2678906" cy="1205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82"/>
              </a:lnSpc>
            </a:pPr>
            <a:r>
              <a:rPr lang="en-US" sz="2188" b="1" spc="-43">
                <a:solidFill>
                  <a:srgbClr val="162D51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Classify the corresponding</a:t>
            </a:r>
          </a:p>
          <a:p>
            <a:pPr algn="l">
              <a:lnSpc>
                <a:spcPts val="3282"/>
              </a:lnSpc>
            </a:pPr>
            <a:r>
              <a:rPr lang="en-US" sz="2188" b="1" spc="-43">
                <a:solidFill>
                  <a:srgbClr val="162D51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alphabet/sign</a:t>
            </a:r>
          </a:p>
        </p:txBody>
      </p:sp>
      <p:sp>
        <p:nvSpPr>
          <p:cNvPr id="17" name="Freeform 17"/>
          <p:cNvSpPr/>
          <p:nvPr/>
        </p:nvSpPr>
        <p:spPr>
          <a:xfrm>
            <a:off x="5217330" y="5783021"/>
            <a:ext cx="4801694" cy="3432644"/>
          </a:xfrm>
          <a:custGeom>
            <a:avLst/>
            <a:gdLst/>
            <a:ahLst/>
            <a:cxnLst/>
            <a:rect l="l" t="t" r="r" b="b"/>
            <a:pathLst>
              <a:path w="4801694" h="3432644">
                <a:moveTo>
                  <a:pt x="0" y="0"/>
                </a:moveTo>
                <a:lnTo>
                  <a:pt x="4801694" y="0"/>
                </a:lnTo>
                <a:lnTo>
                  <a:pt x="4801694" y="3432644"/>
                </a:lnTo>
                <a:lnTo>
                  <a:pt x="0" y="343264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5436086" y="6428009"/>
            <a:ext cx="1750048" cy="1934962"/>
          </a:xfrm>
          <a:custGeom>
            <a:avLst/>
            <a:gdLst/>
            <a:ahLst/>
            <a:cxnLst/>
            <a:rect l="l" t="t" r="r" b="b"/>
            <a:pathLst>
              <a:path w="1750048" h="1934962">
                <a:moveTo>
                  <a:pt x="0" y="0"/>
                </a:moveTo>
                <a:lnTo>
                  <a:pt x="1750048" y="0"/>
                </a:lnTo>
                <a:lnTo>
                  <a:pt x="1750048" y="1934961"/>
                </a:lnTo>
                <a:lnTo>
                  <a:pt x="0" y="1934961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5886055" y="6948000"/>
            <a:ext cx="923228" cy="803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75"/>
              </a:lnSpc>
            </a:pPr>
            <a:r>
              <a:rPr lang="en-US" sz="5311" b="1">
                <a:solidFill>
                  <a:srgbClr val="6C57B2"/>
                </a:solidFill>
                <a:latin typeface="Inter Bold"/>
                <a:ea typeface="Inter Bold"/>
                <a:cs typeface="Inter Bold"/>
                <a:sym typeface="Inter Bold"/>
              </a:rPr>
              <a:t>04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366992" y="6258955"/>
            <a:ext cx="2678906" cy="21202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82"/>
              </a:lnSpc>
            </a:pPr>
            <a:r>
              <a:rPr lang="en-US" sz="2321" b="1" spc="-46">
                <a:solidFill>
                  <a:srgbClr val="162D51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Explore</a:t>
            </a:r>
          </a:p>
          <a:p>
            <a:pPr algn="l">
              <a:lnSpc>
                <a:spcPts val="3482"/>
              </a:lnSpc>
            </a:pPr>
            <a:r>
              <a:rPr lang="en-US" sz="2321" b="1" spc="-46">
                <a:solidFill>
                  <a:srgbClr val="162D51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sequential</a:t>
            </a:r>
          </a:p>
          <a:p>
            <a:pPr algn="l">
              <a:lnSpc>
                <a:spcPts val="3482"/>
              </a:lnSpc>
            </a:pPr>
            <a:r>
              <a:rPr lang="en-US" sz="2321" b="1" spc="-46">
                <a:solidFill>
                  <a:srgbClr val="162D51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sign-to-text</a:t>
            </a:r>
          </a:p>
          <a:p>
            <a:pPr algn="l">
              <a:lnSpc>
                <a:spcPts val="3482"/>
              </a:lnSpc>
            </a:pPr>
            <a:r>
              <a:rPr lang="en-US" sz="2321" b="1" spc="-46">
                <a:solidFill>
                  <a:srgbClr val="162D51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generation as a</a:t>
            </a:r>
          </a:p>
          <a:p>
            <a:pPr algn="l">
              <a:lnSpc>
                <a:spcPts val="3482"/>
              </a:lnSpc>
            </a:pPr>
            <a:r>
              <a:rPr lang="en-US" sz="2321" b="1" spc="-46">
                <a:solidFill>
                  <a:srgbClr val="162D51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future extension</a:t>
            </a:r>
          </a:p>
        </p:txBody>
      </p:sp>
      <p:sp>
        <p:nvSpPr>
          <p:cNvPr id="21" name="Freeform 21"/>
          <p:cNvSpPr/>
          <p:nvPr/>
        </p:nvSpPr>
        <p:spPr>
          <a:xfrm>
            <a:off x="10226842" y="1497682"/>
            <a:ext cx="7634584" cy="8362970"/>
          </a:xfrm>
          <a:custGeom>
            <a:avLst/>
            <a:gdLst/>
            <a:ahLst/>
            <a:cxnLst/>
            <a:rect l="l" t="t" r="r" b="b"/>
            <a:pathLst>
              <a:path w="7634584" h="8362970">
                <a:moveTo>
                  <a:pt x="0" y="0"/>
                </a:moveTo>
                <a:lnTo>
                  <a:pt x="7634584" y="0"/>
                </a:lnTo>
                <a:lnTo>
                  <a:pt x="7634584" y="8362970"/>
                </a:lnTo>
                <a:lnTo>
                  <a:pt x="0" y="836297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11813977" y="1875435"/>
            <a:ext cx="4313039" cy="3843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82"/>
              </a:lnSpc>
            </a:pPr>
            <a:r>
              <a:rPr lang="en-US" sz="2188" b="1">
                <a:solidFill>
                  <a:srgbClr val="0A3662"/>
                </a:solidFill>
                <a:latin typeface="Inter Bold"/>
                <a:ea typeface="Inter Bold"/>
                <a:cs typeface="Inter Bold"/>
                <a:sym typeface="Inter Bold"/>
              </a:rPr>
              <a:t>IMPLEMENTED SYSTEM</a:t>
            </a:r>
          </a:p>
        </p:txBody>
      </p:sp>
      <p:sp>
        <p:nvSpPr>
          <p:cNvPr id="23" name="Freeform 23"/>
          <p:cNvSpPr/>
          <p:nvPr/>
        </p:nvSpPr>
        <p:spPr>
          <a:xfrm>
            <a:off x="11528440" y="2569017"/>
            <a:ext cx="5020450" cy="1289974"/>
          </a:xfrm>
          <a:custGeom>
            <a:avLst/>
            <a:gdLst/>
            <a:ahLst/>
            <a:cxnLst/>
            <a:rect l="l" t="t" r="r" b="b"/>
            <a:pathLst>
              <a:path w="5020450" h="1289974">
                <a:moveTo>
                  <a:pt x="0" y="0"/>
                </a:moveTo>
                <a:lnTo>
                  <a:pt x="5020450" y="0"/>
                </a:lnTo>
                <a:lnTo>
                  <a:pt x="5020450" y="1289974"/>
                </a:lnTo>
                <a:lnTo>
                  <a:pt x="0" y="1289974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24" name="Freeform 24"/>
          <p:cNvSpPr/>
          <p:nvPr/>
        </p:nvSpPr>
        <p:spPr>
          <a:xfrm>
            <a:off x="11965952" y="2569017"/>
            <a:ext cx="667206" cy="1289974"/>
          </a:xfrm>
          <a:custGeom>
            <a:avLst/>
            <a:gdLst/>
            <a:ahLst/>
            <a:cxnLst/>
            <a:rect l="l" t="t" r="r" b="b"/>
            <a:pathLst>
              <a:path w="667206" h="1289974">
                <a:moveTo>
                  <a:pt x="0" y="0"/>
                </a:moveTo>
                <a:lnTo>
                  <a:pt x="667206" y="0"/>
                </a:lnTo>
                <a:lnTo>
                  <a:pt x="667206" y="1289974"/>
                </a:lnTo>
                <a:lnTo>
                  <a:pt x="0" y="1289974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25" name="Freeform 25"/>
          <p:cNvSpPr/>
          <p:nvPr/>
        </p:nvSpPr>
        <p:spPr>
          <a:xfrm>
            <a:off x="13716000" y="3640352"/>
            <a:ext cx="437512" cy="437279"/>
          </a:xfrm>
          <a:custGeom>
            <a:avLst/>
            <a:gdLst/>
            <a:ahLst/>
            <a:cxnLst/>
            <a:rect l="l" t="t" r="r" b="b"/>
            <a:pathLst>
              <a:path w="437512" h="437279">
                <a:moveTo>
                  <a:pt x="0" y="0"/>
                </a:moveTo>
                <a:lnTo>
                  <a:pt x="437512" y="0"/>
                </a:lnTo>
                <a:lnTo>
                  <a:pt x="437512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</p:sp>
      <p:sp>
        <p:nvSpPr>
          <p:cNvPr id="26" name="Freeform 26"/>
          <p:cNvSpPr/>
          <p:nvPr/>
        </p:nvSpPr>
        <p:spPr>
          <a:xfrm>
            <a:off x="11528440" y="3848060"/>
            <a:ext cx="5020450" cy="1082267"/>
          </a:xfrm>
          <a:custGeom>
            <a:avLst/>
            <a:gdLst/>
            <a:ahLst/>
            <a:cxnLst/>
            <a:rect l="l" t="t" r="r" b="b"/>
            <a:pathLst>
              <a:path w="5020450" h="1082267">
                <a:moveTo>
                  <a:pt x="0" y="0"/>
                </a:moveTo>
                <a:lnTo>
                  <a:pt x="5020450" y="0"/>
                </a:lnTo>
                <a:lnTo>
                  <a:pt x="5020450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</p:sp>
      <p:sp>
        <p:nvSpPr>
          <p:cNvPr id="27" name="Freeform 27"/>
          <p:cNvSpPr/>
          <p:nvPr/>
        </p:nvSpPr>
        <p:spPr>
          <a:xfrm>
            <a:off x="13716000" y="4711687"/>
            <a:ext cx="437512" cy="655919"/>
          </a:xfrm>
          <a:custGeom>
            <a:avLst/>
            <a:gdLst/>
            <a:ahLst/>
            <a:cxnLst/>
            <a:rect l="l" t="t" r="r" b="b"/>
            <a:pathLst>
              <a:path w="437512" h="655919">
                <a:moveTo>
                  <a:pt x="0" y="0"/>
                </a:moveTo>
                <a:lnTo>
                  <a:pt x="437512" y="0"/>
                </a:lnTo>
                <a:lnTo>
                  <a:pt x="437512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11528440" y="5138034"/>
            <a:ext cx="5020450" cy="1082267"/>
          </a:xfrm>
          <a:custGeom>
            <a:avLst/>
            <a:gdLst/>
            <a:ahLst/>
            <a:cxnLst/>
            <a:rect l="l" t="t" r="r" b="b"/>
            <a:pathLst>
              <a:path w="5020450" h="1082267">
                <a:moveTo>
                  <a:pt x="0" y="0"/>
                </a:moveTo>
                <a:lnTo>
                  <a:pt x="5020450" y="0"/>
                </a:lnTo>
                <a:lnTo>
                  <a:pt x="5020450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</p:sp>
      <p:sp>
        <p:nvSpPr>
          <p:cNvPr id="29" name="Freeform 29"/>
          <p:cNvSpPr/>
          <p:nvPr/>
        </p:nvSpPr>
        <p:spPr>
          <a:xfrm>
            <a:off x="13716000" y="5990729"/>
            <a:ext cx="437512" cy="448211"/>
          </a:xfrm>
          <a:custGeom>
            <a:avLst/>
            <a:gdLst/>
            <a:ahLst/>
            <a:cxnLst/>
            <a:rect l="l" t="t" r="r" b="b"/>
            <a:pathLst>
              <a:path w="437512" h="448211">
                <a:moveTo>
                  <a:pt x="0" y="0"/>
                </a:moveTo>
                <a:lnTo>
                  <a:pt x="437512" y="0"/>
                </a:lnTo>
                <a:lnTo>
                  <a:pt x="437512" y="448211"/>
                </a:lnTo>
                <a:lnTo>
                  <a:pt x="0" y="448211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/>
            </a:stretch>
          </a:blipFill>
        </p:spPr>
      </p:sp>
      <p:sp>
        <p:nvSpPr>
          <p:cNvPr id="30" name="Freeform 30"/>
          <p:cNvSpPr/>
          <p:nvPr/>
        </p:nvSpPr>
        <p:spPr>
          <a:xfrm>
            <a:off x="11528440" y="6209369"/>
            <a:ext cx="5020450" cy="1082267"/>
          </a:xfrm>
          <a:custGeom>
            <a:avLst/>
            <a:gdLst/>
            <a:ahLst/>
            <a:cxnLst/>
            <a:rect l="l" t="t" r="r" b="b"/>
            <a:pathLst>
              <a:path w="5020450" h="1082267">
                <a:moveTo>
                  <a:pt x="0" y="0"/>
                </a:moveTo>
                <a:lnTo>
                  <a:pt x="5020450" y="0"/>
                </a:lnTo>
                <a:lnTo>
                  <a:pt x="5020450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/>
            </a:stretch>
          </a:blipFill>
        </p:spPr>
      </p:sp>
      <p:sp>
        <p:nvSpPr>
          <p:cNvPr id="31" name="TextBox 31"/>
          <p:cNvSpPr txBox="1"/>
          <p:nvPr/>
        </p:nvSpPr>
        <p:spPr>
          <a:xfrm>
            <a:off x="11813977" y="6589478"/>
            <a:ext cx="4313039" cy="3843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82"/>
              </a:lnSpc>
            </a:pPr>
            <a:r>
              <a:rPr lang="en-US" sz="2188" b="1" spc="-43">
                <a:solidFill>
                  <a:srgbClr val="0A3662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Feature Extraction</a:t>
            </a:r>
          </a:p>
        </p:txBody>
      </p:sp>
      <p:sp>
        <p:nvSpPr>
          <p:cNvPr id="32" name="Freeform 32"/>
          <p:cNvSpPr/>
          <p:nvPr/>
        </p:nvSpPr>
        <p:spPr>
          <a:xfrm>
            <a:off x="13716000" y="7062064"/>
            <a:ext cx="437512" cy="448211"/>
          </a:xfrm>
          <a:custGeom>
            <a:avLst/>
            <a:gdLst/>
            <a:ahLst/>
            <a:cxnLst/>
            <a:rect l="l" t="t" r="r" b="b"/>
            <a:pathLst>
              <a:path w="437512" h="448211">
                <a:moveTo>
                  <a:pt x="0" y="0"/>
                </a:moveTo>
                <a:lnTo>
                  <a:pt x="437512" y="0"/>
                </a:lnTo>
                <a:lnTo>
                  <a:pt x="437512" y="448211"/>
                </a:lnTo>
                <a:lnTo>
                  <a:pt x="0" y="448211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/>
            </a:stretch>
          </a:blipFill>
        </p:spPr>
      </p:sp>
      <p:sp>
        <p:nvSpPr>
          <p:cNvPr id="33" name="Freeform 33"/>
          <p:cNvSpPr/>
          <p:nvPr/>
        </p:nvSpPr>
        <p:spPr>
          <a:xfrm>
            <a:off x="11528440" y="7499343"/>
            <a:ext cx="5020450" cy="1082267"/>
          </a:xfrm>
          <a:custGeom>
            <a:avLst/>
            <a:gdLst/>
            <a:ahLst/>
            <a:cxnLst/>
            <a:rect l="l" t="t" r="r" b="b"/>
            <a:pathLst>
              <a:path w="5020450" h="1082267">
                <a:moveTo>
                  <a:pt x="0" y="0"/>
                </a:moveTo>
                <a:lnTo>
                  <a:pt x="5020450" y="0"/>
                </a:lnTo>
                <a:lnTo>
                  <a:pt x="5020450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/>
            </a:stretch>
          </a:blipFill>
        </p:spPr>
      </p:sp>
      <p:sp>
        <p:nvSpPr>
          <p:cNvPr id="34" name="Freeform 34"/>
          <p:cNvSpPr/>
          <p:nvPr/>
        </p:nvSpPr>
        <p:spPr>
          <a:xfrm>
            <a:off x="13716000" y="8352038"/>
            <a:ext cx="437512" cy="437279"/>
          </a:xfrm>
          <a:custGeom>
            <a:avLst/>
            <a:gdLst/>
            <a:ahLst/>
            <a:cxnLst/>
            <a:rect l="l" t="t" r="r" b="b"/>
            <a:pathLst>
              <a:path w="437512" h="437279">
                <a:moveTo>
                  <a:pt x="0" y="0"/>
                </a:moveTo>
                <a:lnTo>
                  <a:pt x="437512" y="0"/>
                </a:lnTo>
                <a:lnTo>
                  <a:pt x="437512" y="437280"/>
                </a:lnTo>
                <a:lnTo>
                  <a:pt x="0" y="437280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/>
            </a:stretch>
          </a:blipFill>
        </p:spPr>
      </p:sp>
      <p:sp>
        <p:nvSpPr>
          <p:cNvPr id="35" name="Freeform 35"/>
          <p:cNvSpPr/>
          <p:nvPr/>
        </p:nvSpPr>
        <p:spPr>
          <a:xfrm>
            <a:off x="11528440" y="8570678"/>
            <a:ext cx="5020450" cy="1082267"/>
          </a:xfrm>
          <a:custGeom>
            <a:avLst/>
            <a:gdLst/>
            <a:ahLst/>
            <a:cxnLst/>
            <a:rect l="l" t="t" r="r" b="b"/>
            <a:pathLst>
              <a:path w="5020450" h="1082267">
                <a:moveTo>
                  <a:pt x="0" y="0"/>
                </a:moveTo>
                <a:lnTo>
                  <a:pt x="5020450" y="0"/>
                </a:lnTo>
                <a:lnTo>
                  <a:pt x="5020450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/>
            </a:stretch>
          </a:blipFill>
        </p:spPr>
      </p:sp>
      <p:sp>
        <p:nvSpPr>
          <p:cNvPr id="36" name="TextBox 36"/>
          <p:cNvSpPr txBox="1"/>
          <p:nvPr/>
        </p:nvSpPr>
        <p:spPr>
          <a:xfrm>
            <a:off x="11813977" y="8908847"/>
            <a:ext cx="4313039" cy="3843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82"/>
              </a:lnSpc>
            </a:pPr>
            <a:r>
              <a:rPr lang="en-US" sz="2188" b="1" spc="-43">
                <a:solidFill>
                  <a:srgbClr val="F0F0F0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Predicted Alphabet / Sign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1813977" y="7764223"/>
            <a:ext cx="4313039" cy="3843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82"/>
              </a:lnSpc>
            </a:pPr>
            <a:r>
              <a:rPr lang="en-US" sz="2188" b="1" spc="-43">
                <a:solidFill>
                  <a:srgbClr val="0A3662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Classification Head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1813977" y="2929693"/>
            <a:ext cx="4875609" cy="3843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82"/>
              </a:lnSpc>
            </a:pPr>
            <a:r>
              <a:rPr lang="en-US" sz="2188" b="1" spc="-43">
                <a:solidFill>
                  <a:srgbClr val="162D51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ASL Hand Image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1813977" y="4255047"/>
            <a:ext cx="4313039" cy="3843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82"/>
              </a:lnSpc>
            </a:pPr>
            <a:r>
              <a:rPr lang="en-US" sz="2188" b="1" spc="-43">
                <a:solidFill>
                  <a:srgbClr val="0A3662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Preprocessing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1813977" y="5414732"/>
            <a:ext cx="4313039" cy="3843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82"/>
              </a:lnSpc>
            </a:pPr>
            <a:r>
              <a:rPr lang="en-US" sz="2188" b="1" spc="-43">
                <a:solidFill>
                  <a:srgbClr val="0A3662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ResNet50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4580086" y="0"/>
            <a:ext cx="3707914" cy="2361309"/>
          </a:xfrm>
          <a:custGeom>
            <a:avLst/>
            <a:gdLst/>
            <a:ahLst/>
            <a:cxnLst/>
            <a:rect l="l" t="t" r="r" b="b"/>
            <a:pathLst>
              <a:path w="3707914" h="2361309">
                <a:moveTo>
                  <a:pt x="0" y="0"/>
                </a:moveTo>
                <a:lnTo>
                  <a:pt x="3707914" y="0"/>
                </a:lnTo>
                <a:lnTo>
                  <a:pt x="3707914" y="2361309"/>
                </a:lnTo>
                <a:lnTo>
                  <a:pt x="0" y="236130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610011" y="780787"/>
            <a:ext cx="8650493" cy="7236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85"/>
              </a:lnSpc>
            </a:pPr>
            <a:r>
              <a:rPr lang="en-US" sz="5585" b="1">
                <a:solidFill>
                  <a:srgbClr val="0A163B"/>
                </a:solidFill>
                <a:latin typeface="Inter Bold"/>
                <a:ea typeface="Inter Bold"/>
                <a:cs typeface="Inter Bold"/>
                <a:sym typeface="Inter Bold"/>
              </a:rPr>
              <a:t>Dataset &amp; Preprocessing</a:t>
            </a:r>
          </a:p>
        </p:txBody>
      </p:sp>
      <p:sp>
        <p:nvSpPr>
          <p:cNvPr id="5" name="Freeform 5"/>
          <p:cNvSpPr/>
          <p:nvPr/>
        </p:nvSpPr>
        <p:spPr>
          <a:xfrm>
            <a:off x="645330" y="1924030"/>
            <a:ext cx="5239206" cy="4941258"/>
          </a:xfrm>
          <a:custGeom>
            <a:avLst/>
            <a:gdLst/>
            <a:ahLst/>
            <a:cxnLst/>
            <a:rect l="l" t="t" r="r" b="b"/>
            <a:pathLst>
              <a:path w="5239206" h="4941258">
                <a:moveTo>
                  <a:pt x="0" y="0"/>
                </a:moveTo>
                <a:lnTo>
                  <a:pt x="5239206" y="0"/>
                </a:lnTo>
                <a:lnTo>
                  <a:pt x="5239206" y="4941258"/>
                </a:lnTo>
                <a:lnTo>
                  <a:pt x="0" y="49412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071562" y="2301985"/>
            <a:ext cx="3991570" cy="77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6"/>
              </a:lnSpc>
            </a:pPr>
            <a:r>
              <a:rPr lang="en-US" sz="2254" b="1" spc="-45">
                <a:solidFill>
                  <a:srgbClr val="0A163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ASL alphabet and</a:t>
            </a:r>
          </a:p>
          <a:p>
            <a:pPr algn="l">
              <a:lnSpc>
                <a:spcPts val="3156"/>
              </a:lnSpc>
            </a:pPr>
            <a:r>
              <a:rPr lang="en-US" sz="2254" b="1" spc="-45">
                <a:solidFill>
                  <a:srgbClr val="0A163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special classes included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71562" y="3446608"/>
            <a:ext cx="3991570" cy="77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6"/>
              </a:lnSpc>
            </a:pPr>
            <a:r>
              <a:rPr lang="en-US" sz="2254" b="1" spc="-45">
                <a:solidFill>
                  <a:srgbClr val="0A163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Images resized to required input dimensions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71562" y="4697509"/>
            <a:ext cx="3991570" cy="3975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43"/>
              </a:lnSpc>
            </a:pPr>
            <a:r>
              <a:rPr lang="en-US" sz="2387" b="1" spc="-47">
                <a:solidFill>
                  <a:srgbClr val="0A163B"/>
                </a:solidFill>
                <a:latin typeface="Inter Bold"/>
                <a:ea typeface="Inter Bold"/>
                <a:cs typeface="Inter Bold"/>
                <a:sym typeface="Inter Bold"/>
              </a:rPr>
              <a:t>Pixel values normalized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71562" y="5494883"/>
            <a:ext cx="3991570" cy="77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6"/>
              </a:lnSpc>
            </a:pPr>
            <a:r>
              <a:rPr lang="en-US" sz="2254" b="1" spc="-45">
                <a:solidFill>
                  <a:srgbClr val="0A163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Data augmentation to</a:t>
            </a:r>
          </a:p>
          <a:p>
            <a:pPr algn="l">
              <a:lnSpc>
                <a:spcPts val="3156"/>
              </a:lnSpc>
            </a:pPr>
            <a:r>
              <a:rPr lang="en-US" sz="2254" b="1" spc="-45">
                <a:solidFill>
                  <a:srgbClr val="0A163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improve generalization</a:t>
            </a:r>
          </a:p>
        </p:txBody>
      </p:sp>
      <p:sp>
        <p:nvSpPr>
          <p:cNvPr id="10" name="Freeform 10"/>
          <p:cNvSpPr/>
          <p:nvPr/>
        </p:nvSpPr>
        <p:spPr>
          <a:xfrm>
            <a:off x="5873598" y="1705390"/>
            <a:ext cx="1531292" cy="1519546"/>
          </a:xfrm>
          <a:custGeom>
            <a:avLst/>
            <a:gdLst/>
            <a:ahLst/>
            <a:cxnLst/>
            <a:rect l="l" t="t" r="r" b="b"/>
            <a:pathLst>
              <a:path w="1531292" h="1519546">
                <a:moveTo>
                  <a:pt x="0" y="0"/>
                </a:moveTo>
                <a:lnTo>
                  <a:pt x="1531292" y="0"/>
                </a:lnTo>
                <a:lnTo>
                  <a:pt x="1531292" y="1519546"/>
                </a:lnTo>
                <a:lnTo>
                  <a:pt x="0" y="151954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7175196" y="1705390"/>
            <a:ext cx="1542230" cy="1519546"/>
          </a:xfrm>
          <a:custGeom>
            <a:avLst/>
            <a:gdLst/>
            <a:ahLst/>
            <a:cxnLst/>
            <a:rect l="l" t="t" r="r" b="b"/>
            <a:pathLst>
              <a:path w="1542230" h="1519546">
                <a:moveTo>
                  <a:pt x="0" y="0"/>
                </a:moveTo>
                <a:lnTo>
                  <a:pt x="1542230" y="0"/>
                </a:lnTo>
                <a:lnTo>
                  <a:pt x="1542230" y="1519546"/>
                </a:lnTo>
                <a:lnTo>
                  <a:pt x="0" y="151954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8487732" y="1705390"/>
            <a:ext cx="1531292" cy="1519546"/>
          </a:xfrm>
          <a:custGeom>
            <a:avLst/>
            <a:gdLst/>
            <a:ahLst/>
            <a:cxnLst/>
            <a:rect l="l" t="t" r="r" b="b"/>
            <a:pathLst>
              <a:path w="1531292" h="1519546">
                <a:moveTo>
                  <a:pt x="0" y="0"/>
                </a:moveTo>
                <a:lnTo>
                  <a:pt x="1531292" y="0"/>
                </a:lnTo>
                <a:lnTo>
                  <a:pt x="1531292" y="1519546"/>
                </a:lnTo>
                <a:lnTo>
                  <a:pt x="0" y="151954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9789330" y="1705390"/>
            <a:ext cx="1542230" cy="1519546"/>
          </a:xfrm>
          <a:custGeom>
            <a:avLst/>
            <a:gdLst/>
            <a:ahLst/>
            <a:cxnLst/>
            <a:rect l="l" t="t" r="r" b="b"/>
            <a:pathLst>
              <a:path w="1542230" h="1519546">
                <a:moveTo>
                  <a:pt x="0" y="0"/>
                </a:moveTo>
                <a:lnTo>
                  <a:pt x="1542230" y="0"/>
                </a:lnTo>
                <a:lnTo>
                  <a:pt x="1542230" y="1519546"/>
                </a:lnTo>
                <a:lnTo>
                  <a:pt x="0" y="151954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1101866" y="1705390"/>
            <a:ext cx="1531292" cy="1519546"/>
          </a:xfrm>
          <a:custGeom>
            <a:avLst/>
            <a:gdLst/>
            <a:ahLst/>
            <a:cxnLst/>
            <a:rect l="l" t="t" r="r" b="b"/>
            <a:pathLst>
              <a:path w="1531292" h="1519546">
                <a:moveTo>
                  <a:pt x="0" y="0"/>
                </a:moveTo>
                <a:lnTo>
                  <a:pt x="1531292" y="0"/>
                </a:lnTo>
                <a:lnTo>
                  <a:pt x="1531292" y="1519546"/>
                </a:lnTo>
                <a:lnTo>
                  <a:pt x="0" y="151954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2403464" y="1705390"/>
            <a:ext cx="1531292" cy="1519546"/>
          </a:xfrm>
          <a:custGeom>
            <a:avLst/>
            <a:gdLst/>
            <a:ahLst/>
            <a:cxnLst/>
            <a:rect l="l" t="t" r="r" b="b"/>
            <a:pathLst>
              <a:path w="1531292" h="1519546">
                <a:moveTo>
                  <a:pt x="0" y="0"/>
                </a:moveTo>
                <a:lnTo>
                  <a:pt x="1531292" y="0"/>
                </a:lnTo>
                <a:lnTo>
                  <a:pt x="1531292" y="1519546"/>
                </a:lnTo>
                <a:lnTo>
                  <a:pt x="0" y="151954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3716000" y="1705390"/>
            <a:ext cx="1531292" cy="1519546"/>
          </a:xfrm>
          <a:custGeom>
            <a:avLst/>
            <a:gdLst/>
            <a:ahLst/>
            <a:cxnLst/>
            <a:rect l="l" t="t" r="r" b="b"/>
            <a:pathLst>
              <a:path w="1531292" h="1519546">
                <a:moveTo>
                  <a:pt x="0" y="0"/>
                </a:moveTo>
                <a:lnTo>
                  <a:pt x="1531292" y="0"/>
                </a:lnTo>
                <a:lnTo>
                  <a:pt x="1531292" y="1519546"/>
                </a:lnTo>
                <a:lnTo>
                  <a:pt x="0" y="151954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15017598" y="1705390"/>
            <a:ext cx="1531292" cy="1519546"/>
          </a:xfrm>
          <a:custGeom>
            <a:avLst/>
            <a:gdLst/>
            <a:ahLst/>
            <a:cxnLst/>
            <a:rect l="l" t="t" r="r" b="b"/>
            <a:pathLst>
              <a:path w="1531292" h="1519546">
                <a:moveTo>
                  <a:pt x="0" y="0"/>
                </a:moveTo>
                <a:lnTo>
                  <a:pt x="1531292" y="0"/>
                </a:lnTo>
                <a:lnTo>
                  <a:pt x="1531292" y="1519546"/>
                </a:lnTo>
                <a:lnTo>
                  <a:pt x="0" y="1519546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16319196" y="1705390"/>
            <a:ext cx="1542230" cy="1519546"/>
          </a:xfrm>
          <a:custGeom>
            <a:avLst/>
            <a:gdLst/>
            <a:ahLst/>
            <a:cxnLst/>
            <a:rect l="l" t="t" r="r" b="b"/>
            <a:pathLst>
              <a:path w="1542230" h="1519546">
                <a:moveTo>
                  <a:pt x="0" y="0"/>
                </a:moveTo>
                <a:lnTo>
                  <a:pt x="1542230" y="0"/>
                </a:lnTo>
                <a:lnTo>
                  <a:pt x="1542230" y="1519546"/>
                </a:lnTo>
                <a:lnTo>
                  <a:pt x="0" y="1519546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5873598" y="2995365"/>
            <a:ext cx="1531292" cy="1508614"/>
          </a:xfrm>
          <a:custGeom>
            <a:avLst/>
            <a:gdLst/>
            <a:ahLst/>
            <a:cxnLst/>
            <a:rect l="l" t="t" r="r" b="b"/>
            <a:pathLst>
              <a:path w="1531292" h="1508614">
                <a:moveTo>
                  <a:pt x="0" y="0"/>
                </a:moveTo>
                <a:lnTo>
                  <a:pt x="1531292" y="0"/>
                </a:lnTo>
                <a:lnTo>
                  <a:pt x="1531292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7175196" y="2995365"/>
            <a:ext cx="1542230" cy="1508614"/>
          </a:xfrm>
          <a:custGeom>
            <a:avLst/>
            <a:gdLst/>
            <a:ahLst/>
            <a:cxnLst/>
            <a:rect l="l" t="t" r="r" b="b"/>
            <a:pathLst>
              <a:path w="1542230" h="1508614">
                <a:moveTo>
                  <a:pt x="0" y="0"/>
                </a:moveTo>
                <a:lnTo>
                  <a:pt x="1542230" y="0"/>
                </a:lnTo>
                <a:lnTo>
                  <a:pt x="1542230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8487732" y="2995365"/>
            <a:ext cx="1531292" cy="1508614"/>
          </a:xfrm>
          <a:custGeom>
            <a:avLst/>
            <a:gdLst/>
            <a:ahLst/>
            <a:cxnLst/>
            <a:rect l="l" t="t" r="r" b="b"/>
            <a:pathLst>
              <a:path w="1531292" h="1508614">
                <a:moveTo>
                  <a:pt x="0" y="0"/>
                </a:moveTo>
                <a:lnTo>
                  <a:pt x="1531292" y="0"/>
                </a:lnTo>
                <a:lnTo>
                  <a:pt x="1531292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9789330" y="2995365"/>
            <a:ext cx="1542230" cy="1508614"/>
          </a:xfrm>
          <a:custGeom>
            <a:avLst/>
            <a:gdLst/>
            <a:ahLst/>
            <a:cxnLst/>
            <a:rect l="l" t="t" r="r" b="b"/>
            <a:pathLst>
              <a:path w="1542230" h="1508614">
                <a:moveTo>
                  <a:pt x="0" y="0"/>
                </a:moveTo>
                <a:lnTo>
                  <a:pt x="1542230" y="0"/>
                </a:lnTo>
                <a:lnTo>
                  <a:pt x="1542230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</p:sp>
      <p:sp>
        <p:nvSpPr>
          <p:cNvPr id="23" name="Freeform 23"/>
          <p:cNvSpPr/>
          <p:nvPr/>
        </p:nvSpPr>
        <p:spPr>
          <a:xfrm>
            <a:off x="11101866" y="2995365"/>
            <a:ext cx="1531292" cy="1508614"/>
          </a:xfrm>
          <a:custGeom>
            <a:avLst/>
            <a:gdLst/>
            <a:ahLst/>
            <a:cxnLst/>
            <a:rect l="l" t="t" r="r" b="b"/>
            <a:pathLst>
              <a:path w="1531292" h="1508614">
                <a:moveTo>
                  <a:pt x="0" y="0"/>
                </a:moveTo>
                <a:lnTo>
                  <a:pt x="1531292" y="0"/>
                </a:lnTo>
                <a:lnTo>
                  <a:pt x="1531292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</p:sp>
      <p:sp>
        <p:nvSpPr>
          <p:cNvPr id="24" name="Freeform 24"/>
          <p:cNvSpPr/>
          <p:nvPr/>
        </p:nvSpPr>
        <p:spPr>
          <a:xfrm>
            <a:off x="12403464" y="2995365"/>
            <a:ext cx="1531292" cy="1508614"/>
          </a:xfrm>
          <a:custGeom>
            <a:avLst/>
            <a:gdLst/>
            <a:ahLst/>
            <a:cxnLst/>
            <a:rect l="l" t="t" r="r" b="b"/>
            <a:pathLst>
              <a:path w="1531292" h="1508614">
                <a:moveTo>
                  <a:pt x="0" y="0"/>
                </a:moveTo>
                <a:lnTo>
                  <a:pt x="1531292" y="0"/>
                </a:lnTo>
                <a:lnTo>
                  <a:pt x="1531292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/>
            </a:stretch>
          </a:blipFill>
        </p:spPr>
      </p:sp>
      <p:sp>
        <p:nvSpPr>
          <p:cNvPr id="25" name="TextBox 25"/>
          <p:cNvSpPr txBox="1"/>
          <p:nvPr/>
        </p:nvSpPr>
        <p:spPr>
          <a:xfrm>
            <a:off x="13108488" y="4089103"/>
            <a:ext cx="155785" cy="218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17"/>
              </a:lnSpc>
            </a:pPr>
            <a:r>
              <a:rPr lang="en-US" sz="1617" b="1" spc="-32">
                <a:solidFill>
                  <a:srgbClr val="FFFFF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O</a:t>
            </a:r>
          </a:p>
        </p:txBody>
      </p:sp>
      <p:sp>
        <p:nvSpPr>
          <p:cNvPr id="26" name="Freeform 26"/>
          <p:cNvSpPr/>
          <p:nvPr/>
        </p:nvSpPr>
        <p:spPr>
          <a:xfrm>
            <a:off x="13716000" y="2995365"/>
            <a:ext cx="1531292" cy="1508614"/>
          </a:xfrm>
          <a:custGeom>
            <a:avLst/>
            <a:gdLst/>
            <a:ahLst/>
            <a:cxnLst/>
            <a:rect l="l" t="t" r="r" b="b"/>
            <a:pathLst>
              <a:path w="1531292" h="1508614">
                <a:moveTo>
                  <a:pt x="0" y="0"/>
                </a:moveTo>
                <a:lnTo>
                  <a:pt x="1531292" y="0"/>
                </a:lnTo>
                <a:lnTo>
                  <a:pt x="1531292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/>
            </a:stretch>
          </a:blipFill>
        </p:spPr>
      </p:sp>
      <p:sp>
        <p:nvSpPr>
          <p:cNvPr id="27" name="TextBox 27"/>
          <p:cNvSpPr txBox="1"/>
          <p:nvPr/>
        </p:nvSpPr>
        <p:spPr>
          <a:xfrm>
            <a:off x="14433606" y="4089103"/>
            <a:ext cx="130876" cy="218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17"/>
              </a:lnSpc>
            </a:pPr>
            <a:r>
              <a:rPr lang="en-US" sz="1617" b="1" spc="-32">
                <a:solidFill>
                  <a:srgbClr val="FFFFF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P</a:t>
            </a:r>
          </a:p>
        </p:txBody>
      </p:sp>
      <p:sp>
        <p:nvSpPr>
          <p:cNvPr id="28" name="Freeform 28"/>
          <p:cNvSpPr/>
          <p:nvPr/>
        </p:nvSpPr>
        <p:spPr>
          <a:xfrm>
            <a:off x="15017598" y="2995365"/>
            <a:ext cx="1531292" cy="1508614"/>
          </a:xfrm>
          <a:custGeom>
            <a:avLst/>
            <a:gdLst/>
            <a:ahLst/>
            <a:cxnLst/>
            <a:rect l="l" t="t" r="r" b="b"/>
            <a:pathLst>
              <a:path w="1531292" h="1508614">
                <a:moveTo>
                  <a:pt x="0" y="0"/>
                </a:moveTo>
                <a:lnTo>
                  <a:pt x="1531292" y="0"/>
                </a:lnTo>
                <a:lnTo>
                  <a:pt x="1531292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/>
            </a:stretch>
          </a:blipFill>
        </p:spPr>
      </p:sp>
      <p:sp>
        <p:nvSpPr>
          <p:cNvPr id="29" name="TextBox 29"/>
          <p:cNvSpPr txBox="1"/>
          <p:nvPr/>
        </p:nvSpPr>
        <p:spPr>
          <a:xfrm>
            <a:off x="15680784" y="4089103"/>
            <a:ext cx="154693" cy="218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17"/>
              </a:lnSpc>
            </a:pPr>
            <a:r>
              <a:rPr lang="en-US" sz="1617" b="1" spc="-32">
                <a:solidFill>
                  <a:srgbClr val="FFFFF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Q</a:t>
            </a:r>
          </a:p>
        </p:txBody>
      </p:sp>
      <p:sp>
        <p:nvSpPr>
          <p:cNvPr id="30" name="Freeform 30"/>
          <p:cNvSpPr/>
          <p:nvPr/>
        </p:nvSpPr>
        <p:spPr>
          <a:xfrm>
            <a:off x="16319196" y="2995365"/>
            <a:ext cx="1542230" cy="1508614"/>
          </a:xfrm>
          <a:custGeom>
            <a:avLst/>
            <a:gdLst/>
            <a:ahLst/>
            <a:cxnLst/>
            <a:rect l="l" t="t" r="r" b="b"/>
            <a:pathLst>
              <a:path w="1542230" h="1508614">
                <a:moveTo>
                  <a:pt x="0" y="0"/>
                </a:moveTo>
                <a:lnTo>
                  <a:pt x="1542230" y="0"/>
                </a:lnTo>
                <a:lnTo>
                  <a:pt x="1542230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/>
            </a:stretch>
          </a:blipFill>
        </p:spPr>
      </p:sp>
      <p:sp>
        <p:nvSpPr>
          <p:cNvPr id="31" name="Freeform 31"/>
          <p:cNvSpPr/>
          <p:nvPr/>
        </p:nvSpPr>
        <p:spPr>
          <a:xfrm>
            <a:off x="5873598" y="4285339"/>
            <a:ext cx="1531292" cy="1508614"/>
          </a:xfrm>
          <a:custGeom>
            <a:avLst/>
            <a:gdLst/>
            <a:ahLst/>
            <a:cxnLst/>
            <a:rect l="l" t="t" r="r" b="b"/>
            <a:pathLst>
              <a:path w="1531292" h="1508614">
                <a:moveTo>
                  <a:pt x="0" y="0"/>
                </a:moveTo>
                <a:lnTo>
                  <a:pt x="1531292" y="0"/>
                </a:lnTo>
                <a:lnTo>
                  <a:pt x="1531292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/>
            </a:stretch>
          </a:blipFill>
        </p:spPr>
      </p:sp>
      <p:sp>
        <p:nvSpPr>
          <p:cNvPr id="32" name="Freeform 32"/>
          <p:cNvSpPr/>
          <p:nvPr/>
        </p:nvSpPr>
        <p:spPr>
          <a:xfrm>
            <a:off x="7175196" y="4285339"/>
            <a:ext cx="1542230" cy="1508614"/>
          </a:xfrm>
          <a:custGeom>
            <a:avLst/>
            <a:gdLst/>
            <a:ahLst/>
            <a:cxnLst/>
            <a:rect l="l" t="t" r="r" b="b"/>
            <a:pathLst>
              <a:path w="1542230" h="1508614">
                <a:moveTo>
                  <a:pt x="0" y="0"/>
                </a:moveTo>
                <a:lnTo>
                  <a:pt x="1542230" y="0"/>
                </a:lnTo>
                <a:lnTo>
                  <a:pt x="1542230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/>
            </a:stretch>
          </a:blipFill>
        </p:spPr>
      </p:sp>
      <p:sp>
        <p:nvSpPr>
          <p:cNvPr id="33" name="Freeform 33"/>
          <p:cNvSpPr/>
          <p:nvPr/>
        </p:nvSpPr>
        <p:spPr>
          <a:xfrm>
            <a:off x="8487732" y="4285339"/>
            <a:ext cx="1531292" cy="1508614"/>
          </a:xfrm>
          <a:custGeom>
            <a:avLst/>
            <a:gdLst/>
            <a:ahLst/>
            <a:cxnLst/>
            <a:rect l="l" t="t" r="r" b="b"/>
            <a:pathLst>
              <a:path w="1531292" h="1508614">
                <a:moveTo>
                  <a:pt x="0" y="0"/>
                </a:moveTo>
                <a:lnTo>
                  <a:pt x="1531292" y="0"/>
                </a:lnTo>
                <a:lnTo>
                  <a:pt x="1531292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/>
            </a:stretch>
          </a:blipFill>
        </p:spPr>
      </p:sp>
      <p:sp>
        <p:nvSpPr>
          <p:cNvPr id="34" name="Freeform 34"/>
          <p:cNvSpPr/>
          <p:nvPr/>
        </p:nvSpPr>
        <p:spPr>
          <a:xfrm>
            <a:off x="9789330" y="4285339"/>
            <a:ext cx="1542230" cy="1508614"/>
          </a:xfrm>
          <a:custGeom>
            <a:avLst/>
            <a:gdLst/>
            <a:ahLst/>
            <a:cxnLst/>
            <a:rect l="l" t="t" r="r" b="b"/>
            <a:pathLst>
              <a:path w="1542230" h="1508614">
                <a:moveTo>
                  <a:pt x="0" y="0"/>
                </a:moveTo>
                <a:lnTo>
                  <a:pt x="1542230" y="0"/>
                </a:lnTo>
                <a:lnTo>
                  <a:pt x="1542230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>
              <a:fillRect/>
            </a:stretch>
          </a:blipFill>
        </p:spPr>
      </p:sp>
      <p:sp>
        <p:nvSpPr>
          <p:cNvPr id="35" name="Freeform 35"/>
          <p:cNvSpPr/>
          <p:nvPr/>
        </p:nvSpPr>
        <p:spPr>
          <a:xfrm>
            <a:off x="11101866" y="4285339"/>
            <a:ext cx="1531292" cy="1508614"/>
          </a:xfrm>
          <a:custGeom>
            <a:avLst/>
            <a:gdLst/>
            <a:ahLst/>
            <a:cxnLst/>
            <a:rect l="l" t="t" r="r" b="b"/>
            <a:pathLst>
              <a:path w="1531292" h="1508614">
                <a:moveTo>
                  <a:pt x="0" y="0"/>
                </a:moveTo>
                <a:lnTo>
                  <a:pt x="1531292" y="0"/>
                </a:lnTo>
                <a:lnTo>
                  <a:pt x="1531292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>
              <a:fillRect/>
            </a:stretch>
          </a:blipFill>
        </p:spPr>
      </p:sp>
      <p:sp>
        <p:nvSpPr>
          <p:cNvPr id="36" name="Freeform 36"/>
          <p:cNvSpPr/>
          <p:nvPr/>
        </p:nvSpPr>
        <p:spPr>
          <a:xfrm>
            <a:off x="12403464" y="4285339"/>
            <a:ext cx="1531292" cy="1508614"/>
          </a:xfrm>
          <a:custGeom>
            <a:avLst/>
            <a:gdLst/>
            <a:ahLst/>
            <a:cxnLst/>
            <a:rect l="l" t="t" r="r" b="b"/>
            <a:pathLst>
              <a:path w="1531292" h="1508614">
                <a:moveTo>
                  <a:pt x="0" y="0"/>
                </a:moveTo>
                <a:lnTo>
                  <a:pt x="1531292" y="0"/>
                </a:lnTo>
                <a:lnTo>
                  <a:pt x="1531292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>
              <a:fillRect/>
            </a:stretch>
          </a:blipFill>
        </p:spPr>
      </p:sp>
      <p:sp>
        <p:nvSpPr>
          <p:cNvPr id="37" name="Freeform 37"/>
          <p:cNvSpPr/>
          <p:nvPr/>
        </p:nvSpPr>
        <p:spPr>
          <a:xfrm>
            <a:off x="13716000" y="4285339"/>
            <a:ext cx="1531292" cy="1508614"/>
          </a:xfrm>
          <a:custGeom>
            <a:avLst/>
            <a:gdLst/>
            <a:ahLst/>
            <a:cxnLst/>
            <a:rect l="l" t="t" r="r" b="b"/>
            <a:pathLst>
              <a:path w="1531292" h="1508614">
                <a:moveTo>
                  <a:pt x="0" y="0"/>
                </a:moveTo>
                <a:lnTo>
                  <a:pt x="1531292" y="0"/>
                </a:lnTo>
                <a:lnTo>
                  <a:pt x="1531292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>
              <a:fillRect/>
            </a:stretch>
          </a:blipFill>
        </p:spPr>
      </p:sp>
      <p:sp>
        <p:nvSpPr>
          <p:cNvPr id="38" name="Freeform 38"/>
          <p:cNvSpPr/>
          <p:nvPr/>
        </p:nvSpPr>
        <p:spPr>
          <a:xfrm>
            <a:off x="15017598" y="4285339"/>
            <a:ext cx="1531292" cy="1508614"/>
          </a:xfrm>
          <a:custGeom>
            <a:avLst/>
            <a:gdLst/>
            <a:ahLst/>
            <a:cxnLst/>
            <a:rect l="l" t="t" r="r" b="b"/>
            <a:pathLst>
              <a:path w="1531292" h="1508614">
                <a:moveTo>
                  <a:pt x="0" y="0"/>
                </a:moveTo>
                <a:lnTo>
                  <a:pt x="1531292" y="0"/>
                </a:lnTo>
                <a:lnTo>
                  <a:pt x="1531292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30"/>
            <a:stretch>
              <a:fillRect/>
            </a:stretch>
          </a:blipFill>
        </p:spPr>
      </p:sp>
      <p:sp>
        <p:nvSpPr>
          <p:cNvPr id="39" name="Freeform 39"/>
          <p:cNvSpPr/>
          <p:nvPr/>
        </p:nvSpPr>
        <p:spPr>
          <a:xfrm>
            <a:off x="16319196" y="4285339"/>
            <a:ext cx="1542230" cy="1508614"/>
          </a:xfrm>
          <a:custGeom>
            <a:avLst/>
            <a:gdLst/>
            <a:ahLst/>
            <a:cxnLst/>
            <a:rect l="l" t="t" r="r" b="b"/>
            <a:pathLst>
              <a:path w="1542230" h="1508614">
                <a:moveTo>
                  <a:pt x="0" y="0"/>
                </a:moveTo>
                <a:lnTo>
                  <a:pt x="1542230" y="0"/>
                </a:lnTo>
                <a:lnTo>
                  <a:pt x="1542230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>
              <a:fillRect/>
            </a:stretch>
          </a:blipFill>
        </p:spPr>
      </p:sp>
      <p:sp>
        <p:nvSpPr>
          <p:cNvPr id="40" name="Freeform 40"/>
          <p:cNvSpPr/>
          <p:nvPr/>
        </p:nvSpPr>
        <p:spPr>
          <a:xfrm>
            <a:off x="5873598" y="5564382"/>
            <a:ext cx="1531292" cy="1300906"/>
          </a:xfrm>
          <a:custGeom>
            <a:avLst/>
            <a:gdLst/>
            <a:ahLst/>
            <a:cxnLst/>
            <a:rect l="l" t="t" r="r" b="b"/>
            <a:pathLst>
              <a:path w="1531292" h="1300906">
                <a:moveTo>
                  <a:pt x="0" y="0"/>
                </a:moveTo>
                <a:lnTo>
                  <a:pt x="1531292" y="0"/>
                </a:lnTo>
                <a:lnTo>
                  <a:pt x="1531292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32"/>
            <a:stretch>
              <a:fillRect/>
            </a:stretch>
          </a:blipFill>
        </p:spPr>
      </p:sp>
      <p:sp>
        <p:nvSpPr>
          <p:cNvPr id="41" name="Freeform 41"/>
          <p:cNvSpPr/>
          <p:nvPr/>
        </p:nvSpPr>
        <p:spPr>
          <a:xfrm>
            <a:off x="7175196" y="5564382"/>
            <a:ext cx="1542230" cy="1300906"/>
          </a:xfrm>
          <a:custGeom>
            <a:avLst/>
            <a:gdLst/>
            <a:ahLst/>
            <a:cxnLst/>
            <a:rect l="l" t="t" r="r" b="b"/>
            <a:pathLst>
              <a:path w="1542230" h="1300906">
                <a:moveTo>
                  <a:pt x="0" y="0"/>
                </a:moveTo>
                <a:lnTo>
                  <a:pt x="1542230" y="0"/>
                </a:lnTo>
                <a:lnTo>
                  <a:pt x="1542230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33"/>
            <a:stretch>
              <a:fillRect/>
            </a:stretch>
          </a:blipFill>
        </p:spPr>
      </p:sp>
      <p:sp>
        <p:nvSpPr>
          <p:cNvPr id="42" name="Freeform 42"/>
          <p:cNvSpPr/>
          <p:nvPr/>
        </p:nvSpPr>
        <p:spPr>
          <a:xfrm>
            <a:off x="645330" y="7062064"/>
            <a:ext cx="2843828" cy="2798589"/>
          </a:xfrm>
          <a:custGeom>
            <a:avLst/>
            <a:gdLst/>
            <a:ahLst/>
            <a:cxnLst/>
            <a:rect l="l" t="t" r="r" b="b"/>
            <a:pathLst>
              <a:path w="2843828" h="2798589">
                <a:moveTo>
                  <a:pt x="0" y="0"/>
                </a:moveTo>
                <a:lnTo>
                  <a:pt x="2843828" y="0"/>
                </a:lnTo>
                <a:lnTo>
                  <a:pt x="2843828" y="2798588"/>
                </a:lnTo>
                <a:lnTo>
                  <a:pt x="0" y="2798588"/>
                </a:lnTo>
                <a:lnTo>
                  <a:pt x="0" y="0"/>
                </a:lnTo>
                <a:close/>
              </a:path>
            </a:pathLst>
          </a:custGeom>
          <a:blipFill>
            <a:blip r:embed="rId34"/>
            <a:stretch>
              <a:fillRect/>
            </a:stretch>
          </a:blipFill>
        </p:spPr>
      </p:sp>
      <p:sp>
        <p:nvSpPr>
          <p:cNvPr id="43" name="Freeform 43"/>
          <p:cNvSpPr/>
          <p:nvPr/>
        </p:nvSpPr>
        <p:spPr>
          <a:xfrm>
            <a:off x="1082842" y="7925691"/>
            <a:ext cx="1968804" cy="1727254"/>
          </a:xfrm>
          <a:custGeom>
            <a:avLst/>
            <a:gdLst/>
            <a:ahLst/>
            <a:cxnLst/>
            <a:rect l="l" t="t" r="r" b="b"/>
            <a:pathLst>
              <a:path w="1968804" h="1727254">
                <a:moveTo>
                  <a:pt x="0" y="0"/>
                </a:moveTo>
                <a:lnTo>
                  <a:pt x="1968804" y="0"/>
                </a:lnTo>
                <a:lnTo>
                  <a:pt x="1968804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35"/>
            <a:stretch>
              <a:fillRect/>
            </a:stretch>
          </a:blipFill>
        </p:spPr>
      </p:sp>
      <p:sp>
        <p:nvSpPr>
          <p:cNvPr id="44" name="Freeform 44"/>
          <p:cNvSpPr/>
          <p:nvPr/>
        </p:nvSpPr>
        <p:spPr>
          <a:xfrm>
            <a:off x="3478220" y="8133399"/>
            <a:ext cx="667206" cy="655919"/>
          </a:xfrm>
          <a:custGeom>
            <a:avLst/>
            <a:gdLst/>
            <a:ahLst/>
            <a:cxnLst/>
            <a:rect l="l" t="t" r="r" b="b"/>
            <a:pathLst>
              <a:path w="667206" h="655919">
                <a:moveTo>
                  <a:pt x="0" y="0"/>
                </a:moveTo>
                <a:lnTo>
                  <a:pt x="667206" y="0"/>
                </a:lnTo>
                <a:lnTo>
                  <a:pt x="667206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36"/>
            <a:stretch>
              <a:fillRect/>
            </a:stretch>
          </a:blipFill>
        </p:spPr>
      </p:sp>
      <p:sp>
        <p:nvSpPr>
          <p:cNvPr id="45" name="Freeform 45"/>
          <p:cNvSpPr/>
          <p:nvPr/>
        </p:nvSpPr>
        <p:spPr>
          <a:xfrm>
            <a:off x="4134488" y="7062064"/>
            <a:ext cx="2832890" cy="2798589"/>
          </a:xfrm>
          <a:custGeom>
            <a:avLst/>
            <a:gdLst/>
            <a:ahLst/>
            <a:cxnLst/>
            <a:rect l="l" t="t" r="r" b="b"/>
            <a:pathLst>
              <a:path w="2832890" h="2798589">
                <a:moveTo>
                  <a:pt x="0" y="0"/>
                </a:moveTo>
                <a:lnTo>
                  <a:pt x="2832890" y="0"/>
                </a:lnTo>
                <a:lnTo>
                  <a:pt x="2832890" y="2798588"/>
                </a:lnTo>
                <a:lnTo>
                  <a:pt x="0" y="2798588"/>
                </a:lnTo>
                <a:lnTo>
                  <a:pt x="0" y="0"/>
                </a:lnTo>
                <a:close/>
              </a:path>
            </a:pathLst>
          </a:custGeom>
          <a:blipFill>
            <a:blip r:embed="rId37"/>
            <a:stretch>
              <a:fillRect/>
            </a:stretch>
          </a:blipFill>
        </p:spPr>
      </p:sp>
      <p:sp>
        <p:nvSpPr>
          <p:cNvPr id="46" name="Freeform 46"/>
          <p:cNvSpPr/>
          <p:nvPr/>
        </p:nvSpPr>
        <p:spPr>
          <a:xfrm>
            <a:off x="4572000" y="7707051"/>
            <a:ext cx="1968804" cy="1945894"/>
          </a:xfrm>
          <a:custGeom>
            <a:avLst/>
            <a:gdLst/>
            <a:ahLst/>
            <a:cxnLst/>
            <a:rect l="l" t="t" r="r" b="b"/>
            <a:pathLst>
              <a:path w="1968804" h="1945894">
                <a:moveTo>
                  <a:pt x="0" y="0"/>
                </a:moveTo>
                <a:lnTo>
                  <a:pt x="1968804" y="0"/>
                </a:lnTo>
                <a:lnTo>
                  <a:pt x="1968804" y="1945894"/>
                </a:lnTo>
                <a:lnTo>
                  <a:pt x="0" y="1945894"/>
                </a:lnTo>
                <a:lnTo>
                  <a:pt x="0" y="0"/>
                </a:lnTo>
                <a:close/>
              </a:path>
            </a:pathLst>
          </a:custGeom>
          <a:blipFill>
            <a:blip r:embed="rId38"/>
            <a:stretch>
              <a:fillRect/>
            </a:stretch>
          </a:blipFill>
        </p:spPr>
      </p:sp>
      <p:sp>
        <p:nvSpPr>
          <p:cNvPr id="47" name="Freeform 47"/>
          <p:cNvSpPr/>
          <p:nvPr/>
        </p:nvSpPr>
        <p:spPr>
          <a:xfrm>
            <a:off x="6956440" y="8133399"/>
            <a:ext cx="667206" cy="655919"/>
          </a:xfrm>
          <a:custGeom>
            <a:avLst/>
            <a:gdLst/>
            <a:ahLst/>
            <a:cxnLst/>
            <a:rect l="l" t="t" r="r" b="b"/>
            <a:pathLst>
              <a:path w="667206" h="655919">
                <a:moveTo>
                  <a:pt x="0" y="0"/>
                </a:moveTo>
                <a:lnTo>
                  <a:pt x="667206" y="0"/>
                </a:lnTo>
                <a:lnTo>
                  <a:pt x="667206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39"/>
            <a:stretch>
              <a:fillRect/>
            </a:stretch>
          </a:blipFill>
        </p:spPr>
      </p:sp>
      <p:sp>
        <p:nvSpPr>
          <p:cNvPr id="48" name="Freeform 48"/>
          <p:cNvSpPr/>
          <p:nvPr/>
        </p:nvSpPr>
        <p:spPr>
          <a:xfrm>
            <a:off x="7612708" y="7062064"/>
            <a:ext cx="2843828" cy="2798589"/>
          </a:xfrm>
          <a:custGeom>
            <a:avLst/>
            <a:gdLst/>
            <a:ahLst/>
            <a:cxnLst/>
            <a:rect l="l" t="t" r="r" b="b"/>
            <a:pathLst>
              <a:path w="2843828" h="2798589">
                <a:moveTo>
                  <a:pt x="0" y="0"/>
                </a:moveTo>
                <a:lnTo>
                  <a:pt x="2843828" y="0"/>
                </a:lnTo>
                <a:lnTo>
                  <a:pt x="2843828" y="2798588"/>
                </a:lnTo>
                <a:lnTo>
                  <a:pt x="0" y="2798588"/>
                </a:lnTo>
                <a:lnTo>
                  <a:pt x="0" y="0"/>
                </a:lnTo>
                <a:close/>
              </a:path>
            </a:pathLst>
          </a:custGeom>
          <a:blipFill>
            <a:blip r:embed="rId40"/>
            <a:stretch>
              <a:fillRect/>
            </a:stretch>
          </a:blipFill>
        </p:spPr>
      </p:sp>
      <p:sp>
        <p:nvSpPr>
          <p:cNvPr id="49" name="Freeform 49"/>
          <p:cNvSpPr/>
          <p:nvPr/>
        </p:nvSpPr>
        <p:spPr>
          <a:xfrm>
            <a:off x="8050220" y="7925691"/>
            <a:ext cx="1750048" cy="1727254"/>
          </a:xfrm>
          <a:custGeom>
            <a:avLst/>
            <a:gdLst/>
            <a:ahLst/>
            <a:cxnLst/>
            <a:rect l="l" t="t" r="r" b="b"/>
            <a:pathLst>
              <a:path w="1750048" h="1727254">
                <a:moveTo>
                  <a:pt x="0" y="0"/>
                </a:moveTo>
                <a:lnTo>
                  <a:pt x="1750048" y="0"/>
                </a:lnTo>
                <a:lnTo>
                  <a:pt x="1750048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41"/>
            <a:stretch>
              <a:fillRect/>
            </a:stretch>
          </a:blipFill>
        </p:spPr>
      </p:sp>
      <p:sp>
        <p:nvSpPr>
          <p:cNvPr id="50" name="Freeform 50"/>
          <p:cNvSpPr/>
          <p:nvPr/>
        </p:nvSpPr>
        <p:spPr>
          <a:xfrm>
            <a:off x="9789330" y="7925691"/>
            <a:ext cx="667206" cy="1508614"/>
          </a:xfrm>
          <a:custGeom>
            <a:avLst/>
            <a:gdLst/>
            <a:ahLst/>
            <a:cxnLst/>
            <a:rect l="l" t="t" r="r" b="b"/>
            <a:pathLst>
              <a:path w="667206" h="1508614">
                <a:moveTo>
                  <a:pt x="0" y="0"/>
                </a:moveTo>
                <a:lnTo>
                  <a:pt x="667206" y="0"/>
                </a:lnTo>
                <a:lnTo>
                  <a:pt x="667206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42"/>
            <a:stretch>
              <a:fillRect/>
            </a:stretch>
          </a:blipFill>
        </p:spPr>
      </p:sp>
      <p:sp>
        <p:nvSpPr>
          <p:cNvPr id="51" name="Freeform 51"/>
          <p:cNvSpPr/>
          <p:nvPr/>
        </p:nvSpPr>
        <p:spPr>
          <a:xfrm>
            <a:off x="10445598" y="8133399"/>
            <a:ext cx="667206" cy="655919"/>
          </a:xfrm>
          <a:custGeom>
            <a:avLst/>
            <a:gdLst/>
            <a:ahLst/>
            <a:cxnLst/>
            <a:rect l="l" t="t" r="r" b="b"/>
            <a:pathLst>
              <a:path w="667206" h="655919">
                <a:moveTo>
                  <a:pt x="0" y="0"/>
                </a:moveTo>
                <a:lnTo>
                  <a:pt x="667206" y="0"/>
                </a:lnTo>
                <a:lnTo>
                  <a:pt x="667206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43"/>
            <a:stretch>
              <a:fillRect/>
            </a:stretch>
          </a:blipFill>
        </p:spPr>
      </p:sp>
      <p:sp>
        <p:nvSpPr>
          <p:cNvPr id="52" name="Freeform 52"/>
          <p:cNvSpPr/>
          <p:nvPr/>
        </p:nvSpPr>
        <p:spPr>
          <a:xfrm>
            <a:off x="11101866" y="7062064"/>
            <a:ext cx="3051646" cy="2798589"/>
          </a:xfrm>
          <a:custGeom>
            <a:avLst/>
            <a:gdLst/>
            <a:ahLst/>
            <a:cxnLst/>
            <a:rect l="l" t="t" r="r" b="b"/>
            <a:pathLst>
              <a:path w="3051646" h="2798589">
                <a:moveTo>
                  <a:pt x="0" y="0"/>
                </a:moveTo>
                <a:lnTo>
                  <a:pt x="3051646" y="0"/>
                </a:lnTo>
                <a:lnTo>
                  <a:pt x="3051646" y="2798588"/>
                </a:lnTo>
                <a:lnTo>
                  <a:pt x="0" y="2798588"/>
                </a:lnTo>
                <a:lnTo>
                  <a:pt x="0" y="0"/>
                </a:lnTo>
                <a:close/>
              </a:path>
            </a:pathLst>
          </a:custGeom>
          <a:blipFill>
            <a:blip r:embed="rId44"/>
            <a:stretch>
              <a:fillRect/>
            </a:stretch>
          </a:blipFill>
        </p:spPr>
      </p:sp>
      <p:sp>
        <p:nvSpPr>
          <p:cNvPr id="53" name="TextBox 53"/>
          <p:cNvSpPr txBox="1"/>
          <p:nvPr/>
        </p:nvSpPr>
        <p:spPr>
          <a:xfrm>
            <a:off x="11304984" y="7475443"/>
            <a:ext cx="2732484" cy="2985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87"/>
              </a:lnSpc>
            </a:pPr>
            <a:r>
              <a:rPr lang="en-US" sz="2387" b="1" spc="-47">
                <a:solidFill>
                  <a:srgbClr val="16A2B2"/>
                </a:solidFill>
                <a:latin typeface="Inter Bold"/>
                <a:ea typeface="Inter Bold"/>
                <a:cs typeface="Inter Bold"/>
                <a:sym typeface="Inter Bold"/>
              </a:rPr>
              <a:t>AUGMENTATION</a:t>
            </a:r>
          </a:p>
        </p:txBody>
      </p:sp>
      <p:sp>
        <p:nvSpPr>
          <p:cNvPr id="54" name="Freeform 54"/>
          <p:cNvSpPr/>
          <p:nvPr/>
        </p:nvSpPr>
        <p:spPr>
          <a:xfrm>
            <a:off x="11528440" y="7925691"/>
            <a:ext cx="1104718" cy="863627"/>
          </a:xfrm>
          <a:custGeom>
            <a:avLst/>
            <a:gdLst/>
            <a:ahLst/>
            <a:cxnLst/>
            <a:rect l="l" t="t" r="r" b="b"/>
            <a:pathLst>
              <a:path w="1104718" h="863627">
                <a:moveTo>
                  <a:pt x="0" y="0"/>
                </a:moveTo>
                <a:lnTo>
                  <a:pt x="1104718" y="0"/>
                </a:lnTo>
                <a:lnTo>
                  <a:pt x="1104718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45"/>
            <a:stretch>
              <a:fillRect/>
            </a:stretch>
          </a:blipFill>
        </p:spPr>
      </p:sp>
      <p:sp>
        <p:nvSpPr>
          <p:cNvPr id="55" name="Freeform 55"/>
          <p:cNvSpPr/>
          <p:nvPr/>
        </p:nvSpPr>
        <p:spPr>
          <a:xfrm>
            <a:off x="12622220" y="7925691"/>
            <a:ext cx="1093780" cy="863627"/>
          </a:xfrm>
          <a:custGeom>
            <a:avLst/>
            <a:gdLst/>
            <a:ahLst/>
            <a:cxnLst/>
            <a:rect l="l" t="t" r="r" b="b"/>
            <a:pathLst>
              <a:path w="1093780" h="863627">
                <a:moveTo>
                  <a:pt x="0" y="0"/>
                </a:moveTo>
                <a:lnTo>
                  <a:pt x="1093780" y="0"/>
                </a:lnTo>
                <a:lnTo>
                  <a:pt x="1093780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46"/>
            <a:stretch>
              <a:fillRect/>
            </a:stretch>
          </a:blipFill>
        </p:spPr>
      </p:sp>
      <p:sp>
        <p:nvSpPr>
          <p:cNvPr id="56" name="Freeform 56"/>
          <p:cNvSpPr/>
          <p:nvPr/>
        </p:nvSpPr>
        <p:spPr>
          <a:xfrm>
            <a:off x="11528440" y="8570678"/>
            <a:ext cx="1104718" cy="1082267"/>
          </a:xfrm>
          <a:custGeom>
            <a:avLst/>
            <a:gdLst/>
            <a:ahLst/>
            <a:cxnLst/>
            <a:rect l="l" t="t" r="r" b="b"/>
            <a:pathLst>
              <a:path w="1104718" h="1082267">
                <a:moveTo>
                  <a:pt x="0" y="0"/>
                </a:moveTo>
                <a:lnTo>
                  <a:pt x="1104718" y="0"/>
                </a:lnTo>
                <a:lnTo>
                  <a:pt x="1104718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47"/>
            <a:stretch>
              <a:fillRect/>
            </a:stretch>
          </a:blipFill>
        </p:spPr>
      </p:sp>
      <p:sp>
        <p:nvSpPr>
          <p:cNvPr id="57" name="Freeform 57"/>
          <p:cNvSpPr/>
          <p:nvPr/>
        </p:nvSpPr>
        <p:spPr>
          <a:xfrm>
            <a:off x="12622220" y="8570678"/>
            <a:ext cx="1093780" cy="1082267"/>
          </a:xfrm>
          <a:custGeom>
            <a:avLst/>
            <a:gdLst/>
            <a:ahLst/>
            <a:cxnLst/>
            <a:rect l="l" t="t" r="r" b="b"/>
            <a:pathLst>
              <a:path w="1093780" h="1082267">
                <a:moveTo>
                  <a:pt x="0" y="0"/>
                </a:moveTo>
                <a:lnTo>
                  <a:pt x="1093780" y="0"/>
                </a:lnTo>
                <a:lnTo>
                  <a:pt x="1093780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48"/>
            <a:stretch>
              <a:fillRect/>
            </a:stretch>
          </a:blipFill>
        </p:spPr>
      </p:sp>
      <p:sp>
        <p:nvSpPr>
          <p:cNvPr id="58" name="Freeform 58"/>
          <p:cNvSpPr/>
          <p:nvPr/>
        </p:nvSpPr>
        <p:spPr>
          <a:xfrm>
            <a:off x="14142574" y="8133399"/>
            <a:ext cx="667206" cy="655919"/>
          </a:xfrm>
          <a:custGeom>
            <a:avLst/>
            <a:gdLst/>
            <a:ahLst/>
            <a:cxnLst/>
            <a:rect l="l" t="t" r="r" b="b"/>
            <a:pathLst>
              <a:path w="667206" h="655919">
                <a:moveTo>
                  <a:pt x="0" y="0"/>
                </a:moveTo>
                <a:lnTo>
                  <a:pt x="667206" y="0"/>
                </a:lnTo>
                <a:lnTo>
                  <a:pt x="667206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49"/>
            <a:stretch>
              <a:fillRect/>
            </a:stretch>
          </a:blipFill>
        </p:spPr>
      </p:sp>
      <p:sp>
        <p:nvSpPr>
          <p:cNvPr id="59" name="Freeform 59"/>
          <p:cNvSpPr/>
          <p:nvPr/>
        </p:nvSpPr>
        <p:spPr>
          <a:xfrm>
            <a:off x="14798842" y="7062064"/>
            <a:ext cx="2843828" cy="2798589"/>
          </a:xfrm>
          <a:custGeom>
            <a:avLst/>
            <a:gdLst/>
            <a:ahLst/>
            <a:cxnLst/>
            <a:rect l="l" t="t" r="r" b="b"/>
            <a:pathLst>
              <a:path w="2843828" h="2798589">
                <a:moveTo>
                  <a:pt x="0" y="0"/>
                </a:moveTo>
                <a:lnTo>
                  <a:pt x="2843828" y="0"/>
                </a:lnTo>
                <a:lnTo>
                  <a:pt x="2843828" y="2798588"/>
                </a:lnTo>
                <a:lnTo>
                  <a:pt x="0" y="2798588"/>
                </a:lnTo>
                <a:lnTo>
                  <a:pt x="0" y="0"/>
                </a:lnTo>
                <a:close/>
              </a:path>
            </a:pathLst>
          </a:custGeom>
          <a:blipFill>
            <a:blip r:embed="rId50"/>
            <a:stretch>
              <a:fillRect/>
            </a:stretch>
          </a:blipFill>
        </p:spPr>
      </p:sp>
      <p:sp>
        <p:nvSpPr>
          <p:cNvPr id="60" name="Freeform 60"/>
          <p:cNvSpPr/>
          <p:nvPr/>
        </p:nvSpPr>
        <p:spPr>
          <a:xfrm>
            <a:off x="15455110" y="7925691"/>
            <a:ext cx="1531292" cy="1508614"/>
          </a:xfrm>
          <a:custGeom>
            <a:avLst/>
            <a:gdLst/>
            <a:ahLst/>
            <a:cxnLst/>
            <a:rect l="l" t="t" r="r" b="b"/>
            <a:pathLst>
              <a:path w="1531292" h="1508614">
                <a:moveTo>
                  <a:pt x="0" y="0"/>
                </a:moveTo>
                <a:lnTo>
                  <a:pt x="1531292" y="0"/>
                </a:lnTo>
                <a:lnTo>
                  <a:pt x="1531292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51"/>
            <a:stretch>
              <a:fillRect/>
            </a:stretch>
          </a:blipFill>
        </p:spPr>
      </p:sp>
      <p:sp>
        <p:nvSpPr>
          <p:cNvPr id="61" name="TextBox 61"/>
          <p:cNvSpPr txBox="1"/>
          <p:nvPr/>
        </p:nvSpPr>
        <p:spPr>
          <a:xfrm>
            <a:off x="15001875" y="7475443"/>
            <a:ext cx="2518172" cy="2985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87"/>
              </a:lnSpc>
            </a:pPr>
            <a:r>
              <a:rPr lang="en-US" sz="2387" b="1" spc="-47">
                <a:solidFill>
                  <a:srgbClr val="16A2B2"/>
                </a:solidFill>
                <a:latin typeface="Inter Bold"/>
                <a:ea typeface="Inter Bold"/>
                <a:cs typeface="Inter Bold"/>
                <a:sym typeface="Inter Bold"/>
              </a:rPr>
              <a:t>MODEL INPUT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696516" y="7475443"/>
            <a:ext cx="2732484" cy="2985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87"/>
              </a:lnSpc>
            </a:pPr>
            <a:r>
              <a:rPr lang="en-US" sz="2387" b="1" spc="-47">
                <a:solidFill>
                  <a:srgbClr val="7B50C8"/>
                </a:solidFill>
                <a:latin typeface="Inter Bold"/>
                <a:ea typeface="Inter Bold"/>
                <a:cs typeface="Inter Bold"/>
                <a:sym typeface="Inter Bold"/>
              </a:rPr>
              <a:t>RAW IMAGE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7715250" y="7475443"/>
            <a:ext cx="2732484" cy="2985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87"/>
              </a:lnSpc>
            </a:pPr>
            <a:r>
              <a:rPr lang="en-US" sz="2387" b="1" spc="-47">
                <a:solidFill>
                  <a:srgbClr val="3D5CB2"/>
                </a:solidFill>
                <a:latin typeface="Inter Bold"/>
                <a:ea typeface="Inter Bold"/>
                <a:cs typeface="Inter Bold"/>
                <a:sym typeface="Inter Bold"/>
              </a:rPr>
              <a:t>NORMALIZE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4286250" y="7475443"/>
            <a:ext cx="2518172" cy="2985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87"/>
              </a:lnSpc>
            </a:pPr>
            <a:r>
              <a:rPr lang="en-US" sz="2387" b="1" spc="-47">
                <a:solidFill>
                  <a:srgbClr val="7B50C8"/>
                </a:solidFill>
                <a:latin typeface="Inter Bold"/>
                <a:ea typeface="Inter Bold"/>
                <a:cs typeface="Inter Bold"/>
                <a:sym typeface="Inter Bold"/>
              </a:rPr>
              <a:t>RESIZE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6254342" y="6620216"/>
            <a:ext cx="912636" cy="2165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46"/>
              </a:lnSpc>
            </a:pPr>
            <a:r>
              <a:rPr lang="en-US" sz="1546" b="1" spc="-30">
                <a:solidFill>
                  <a:srgbClr val="FFFFF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NOTHING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7670215" y="6619324"/>
            <a:ext cx="681037" cy="218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17"/>
              </a:lnSpc>
            </a:pPr>
            <a:r>
              <a:rPr lang="en-US" sz="1617" b="1" spc="-32">
                <a:solidFill>
                  <a:srgbClr val="FFFFF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SPACE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16821881" y="5354213"/>
            <a:ext cx="379955" cy="218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17"/>
              </a:lnSpc>
            </a:pPr>
            <a:r>
              <a:rPr lang="en-US" sz="1617" b="1" spc="-32">
                <a:solidFill>
                  <a:srgbClr val="FFFFF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DEL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9230629" y="2854114"/>
            <a:ext cx="142675" cy="218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17"/>
              </a:lnSpc>
            </a:pPr>
            <a:r>
              <a:rPr lang="en-US" sz="1617" b="1" spc="-32">
                <a:solidFill>
                  <a:srgbClr val="FFFFF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C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9244613" y="4089103"/>
            <a:ext cx="114707" cy="218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17"/>
              </a:lnSpc>
            </a:pPr>
            <a:r>
              <a:rPr lang="en-US" sz="1617" b="1" spc="-32">
                <a:solidFill>
                  <a:srgbClr val="FFFFF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L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9230519" y="5354213"/>
            <a:ext cx="142894" cy="218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17"/>
              </a:lnSpc>
            </a:pPr>
            <a:r>
              <a:rPr lang="en-US" sz="1617" b="1" spc="-32">
                <a:solidFill>
                  <a:srgbClr val="FFFFF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U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6627829" y="2854114"/>
            <a:ext cx="151197" cy="218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17"/>
              </a:lnSpc>
            </a:pPr>
            <a:r>
              <a:rPr lang="en-US" sz="1617" b="1" spc="-32">
                <a:solidFill>
                  <a:srgbClr val="FFFFF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A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10569426" y="2854114"/>
            <a:ext cx="143986" cy="218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17"/>
              </a:lnSpc>
            </a:pPr>
            <a:r>
              <a:rPr lang="en-US" sz="1617" b="1" spc="-32">
                <a:solidFill>
                  <a:srgbClr val="FFFFF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D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6648914" y="4089103"/>
            <a:ext cx="109026" cy="218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17"/>
              </a:lnSpc>
            </a:pPr>
            <a:r>
              <a:rPr lang="en-US" sz="1617" b="1" spc="-32">
                <a:solidFill>
                  <a:srgbClr val="FFFFF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J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10551509" y="4089103"/>
            <a:ext cx="179821" cy="218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17"/>
              </a:lnSpc>
            </a:pPr>
            <a:r>
              <a:rPr lang="en-US" sz="1617" b="1" spc="-32">
                <a:solidFill>
                  <a:srgbClr val="FFFFF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M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6635913" y="5354213"/>
            <a:ext cx="135028" cy="218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17"/>
              </a:lnSpc>
            </a:pPr>
            <a:r>
              <a:rPr lang="en-US" sz="1617" b="1" spc="-32">
                <a:solidFill>
                  <a:srgbClr val="FFFFF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S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10566913" y="5354213"/>
            <a:ext cx="149012" cy="218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17"/>
              </a:lnSpc>
            </a:pPr>
            <a:r>
              <a:rPr lang="en-US" sz="1617" b="1" spc="-32">
                <a:solidFill>
                  <a:srgbClr val="FFFFF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V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7946939" y="2854114"/>
            <a:ext cx="138305" cy="218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17"/>
              </a:lnSpc>
            </a:pPr>
            <a:r>
              <a:rPr lang="en-US" sz="1617" b="1" spc="-32">
                <a:solidFill>
                  <a:srgbClr val="FFFFF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B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11866663" y="2854114"/>
            <a:ext cx="121262" cy="218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17"/>
              </a:lnSpc>
            </a:pPr>
            <a:r>
              <a:rPr lang="en-US" sz="1617" b="1" spc="-32">
                <a:solidFill>
                  <a:srgbClr val="FFFFF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E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13129464" y="2854114"/>
            <a:ext cx="113833" cy="218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17"/>
              </a:lnSpc>
            </a:pPr>
            <a:r>
              <a:rPr lang="en-US" sz="1617" b="1" spc="-32">
                <a:solidFill>
                  <a:srgbClr val="FFFFF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F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14424101" y="2854114"/>
            <a:ext cx="149886" cy="218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17"/>
              </a:lnSpc>
            </a:pPr>
            <a:r>
              <a:rPr lang="en-US" sz="1617" b="1" spc="-32">
                <a:solidFill>
                  <a:srgbClr val="FFFFF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G</a:t>
            </a:r>
          </a:p>
        </p:txBody>
      </p:sp>
      <p:sp>
        <p:nvSpPr>
          <p:cNvPr id="81" name="TextBox 81"/>
          <p:cNvSpPr txBox="1"/>
          <p:nvPr/>
        </p:nvSpPr>
        <p:spPr>
          <a:xfrm>
            <a:off x="15687120" y="2854114"/>
            <a:ext cx="142020" cy="218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17"/>
              </a:lnSpc>
            </a:pPr>
            <a:r>
              <a:rPr lang="en-US" sz="1617" b="1" spc="-32">
                <a:solidFill>
                  <a:srgbClr val="FFFFF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H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16993075" y="2854114"/>
            <a:ext cx="48281" cy="218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17"/>
              </a:lnSpc>
            </a:pPr>
            <a:r>
              <a:rPr lang="en-US" sz="1617" b="1" spc="-32">
                <a:solidFill>
                  <a:srgbClr val="FFFFF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I</a:t>
            </a:r>
          </a:p>
        </p:txBody>
      </p:sp>
      <p:sp>
        <p:nvSpPr>
          <p:cNvPr id="83" name="TextBox 83"/>
          <p:cNvSpPr txBox="1"/>
          <p:nvPr/>
        </p:nvSpPr>
        <p:spPr>
          <a:xfrm>
            <a:off x="7943224" y="4089103"/>
            <a:ext cx="145734" cy="218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17"/>
              </a:lnSpc>
            </a:pPr>
            <a:r>
              <a:rPr lang="en-US" sz="1617" b="1" spc="-32">
                <a:solidFill>
                  <a:srgbClr val="FFFFF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K</a:t>
            </a:r>
          </a:p>
        </p:txBody>
      </p:sp>
      <p:sp>
        <p:nvSpPr>
          <p:cNvPr id="84" name="TextBox 84"/>
          <p:cNvSpPr txBox="1"/>
          <p:nvPr/>
        </p:nvSpPr>
        <p:spPr>
          <a:xfrm>
            <a:off x="11854536" y="4089103"/>
            <a:ext cx="145516" cy="218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17"/>
              </a:lnSpc>
            </a:pPr>
            <a:r>
              <a:rPr lang="en-US" sz="1617" b="1" spc="-32">
                <a:solidFill>
                  <a:srgbClr val="FFFFF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N</a:t>
            </a:r>
          </a:p>
        </p:txBody>
      </p:sp>
      <p:sp>
        <p:nvSpPr>
          <p:cNvPr id="85" name="TextBox 85"/>
          <p:cNvSpPr txBox="1"/>
          <p:nvPr/>
        </p:nvSpPr>
        <p:spPr>
          <a:xfrm>
            <a:off x="16947736" y="4089103"/>
            <a:ext cx="138961" cy="218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17"/>
              </a:lnSpc>
            </a:pPr>
            <a:r>
              <a:rPr lang="en-US" sz="1617" b="1" spc="-32">
                <a:solidFill>
                  <a:srgbClr val="FFFFF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R</a:t>
            </a:r>
          </a:p>
        </p:txBody>
      </p:sp>
      <p:sp>
        <p:nvSpPr>
          <p:cNvPr id="86" name="TextBox 86"/>
          <p:cNvSpPr txBox="1"/>
          <p:nvPr/>
        </p:nvSpPr>
        <p:spPr>
          <a:xfrm>
            <a:off x="7953275" y="5354213"/>
            <a:ext cx="125632" cy="218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17"/>
              </a:lnSpc>
            </a:pPr>
            <a:r>
              <a:rPr lang="en-US" sz="1617" b="1" spc="-32">
                <a:solidFill>
                  <a:srgbClr val="FFFFF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T</a:t>
            </a:r>
          </a:p>
        </p:txBody>
      </p:sp>
      <p:sp>
        <p:nvSpPr>
          <p:cNvPr id="87" name="TextBox 87"/>
          <p:cNvSpPr txBox="1"/>
          <p:nvPr/>
        </p:nvSpPr>
        <p:spPr>
          <a:xfrm>
            <a:off x="11791257" y="5354213"/>
            <a:ext cx="218496" cy="218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17"/>
              </a:lnSpc>
            </a:pPr>
            <a:r>
              <a:rPr lang="en-US" sz="1617" b="1" spc="-32">
                <a:solidFill>
                  <a:srgbClr val="FFFFF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W</a:t>
            </a:r>
          </a:p>
        </p:txBody>
      </p:sp>
      <p:sp>
        <p:nvSpPr>
          <p:cNvPr id="88" name="TextBox 88"/>
          <p:cNvSpPr txBox="1"/>
          <p:nvPr/>
        </p:nvSpPr>
        <p:spPr>
          <a:xfrm>
            <a:off x="13115589" y="5354213"/>
            <a:ext cx="141583" cy="218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17"/>
              </a:lnSpc>
            </a:pPr>
            <a:r>
              <a:rPr lang="en-US" sz="1617" b="1" spc="-32">
                <a:solidFill>
                  <a:srgbClr val="FFFFF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X</a:t>
            </a:r>
          </a:p>
        </p:txBody>
      </p:sp>
      <p:sp>
        <p:nvSpPr>
          <p:cNvPr id="89" name="TextBox 89"/>
          <p:cNvSpPr txBox="1"/>
          <p:nvPr/>
        </p:nvSpPr>
        <p:spPr>
          <a:xfrm>
            <a:off x="14425849" y="5354213"/>
            <a:ext cx="146390" cy="218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17"/>
              </a:lnSpc>
            </a:pPr>
            <a:r>
              <a:rPr lang="en-US" sz="1617" b="1" spc="-32">
                <a:solidFill>
                  <a:srgbClr val="FFFFF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Y</a:t>
            </a:r>
          </a:p>
        </p:txBody>
      </p:sp>
      <p:sp>
        <p:nvSpPr>
          <p:cNvPr id="90" name="TextBox 90"/>
          <p:cNvSpPr txBox="1"/>
          <p:nvPr/>
        </p:nvSpPr>
        <p:spPr>
          <a:xfrm>
            <a:off x="15692692" y="5354213"/>
            <a:ext cx="130876" cy="218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17"/>
              </a:lnSpc>
            </a:pPr>
            <a:r>
              <a:rPr lang="en-US" sz="1617" b="1" spc="-32">
                <a:solidFill>
                  <a:srgbClr val="FFFFF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Z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296981" y="833834"/>
            <a:ext cx="13164450" cy="7189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54"/>
              </a:lnSpc>
            </a:pPr>
            <a:r>
              <a:rPr lang="en-US" sz="5354" b="1" spc="-107">
                <a:solidFill>
                  <a:srgbClr val="0A2A66"/>
                </a:solidFill>
                <a:latin typeface="Inter Bold"/>
                <a:ea typeface="Inter Bold"/>
                <a:cs typeface="Inter Bold"/>
                <a:sym typeface="Inter Bold"/>
              </a:rPr>
              <a:t>ResNet50-Based Static Sign Recognition</a:t>
            </a:r>
          </a:p>
        </p:txBody>
      </p:sp>
      <p:sp>
        <p:nvSpPr>
          <p:cNvPr id="4" name="Freeform 4"/>
          <p:cNvSpPr/>
          <p:nvPr/>
        </p:nvSpPr>
        <p:spPr>
          <a:xfrm>
            <a:off x="426574" y="1497682"/>
            <a:ext cx="6114230" cy="437279"/>
          </a:xfrm>
          <a:custGeom>
            <a:avLst/>
            <a:gdLst/>
            <a:ahLst/>
            <a:cxnLst/>
            <a:rect l="l" t="t" r="r" b="b"/>
            <a:pathLst>
              <a:path w="6114230" h="437279">
                <a:moveTo>
                  <a:pt x="0" y="0"/>
                </a:moveTo>
                <a:lnTo>
                  <a:pt x="6114230" y="0"/>
                </a:lnTo>
                <a:lnTo>
                  <a:pt x="6114230" y="437280"/>
                </a:lnTo>
                <a:lnTo>
                  <a:pt x="0" y="4372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426574" y="2350377"/>
            <a:ext cx="3500096" cy="874559"/>
          </a:xfrm>
          <a:custGeom>
            <a:avLst/>
            <a:gdLst/>
            <a:ahLst/>
            <a:cxnLst/>
            <a:rect l="l" t="t" r="r" b="b"/>
            <a:pathLst>
              <a:path w="3500096" h="874559">
                <a:moveTo>
                  <a:pt x="0" y="0"/>
                </a:moveTo>
                <a:lnTo>
                  <a:pt x="3500096" y="0"/>
                </a:lnTo>
                <a:lnTo>
                  <a:pt x="3500096" y="874559"/>
                </a:lnTo>
                <a:lnTo>
                  <a:pt x="0" y="87455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262405" y="2602204"/>
            <a:ext cx="1745367" cy="327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15"/>
              </a:lnSpc>
            </a:pPr>
            <a:r>
              <a:rPr lang="en-US" sz="1810" b="1" spc="-53">
                <a:solidFill>
                  <a:srgbClr val="0A2A66"/>
                </a:solidFill>
                <a:latin typeface="Inter Bold"/>
                <a:ea typeface="Inter Bold"/>
                <a:cs typeface="Inter Bold"/>
                <a:sym typeface="Inter Bold"/>
              </a:rPr>
              <a:t>Input ASL Image</a:t>
            </a:r>
          </a:p>
        </p:txBody>
      </p:sp>
      <p:sp>
        <p:nvSpPr>
          <p:cNvPr id="7" name="Freeform 7"/>
          <p:cNvSpPr/>
          <p:nvPr/>
        </p:nvSpPr>
        <p:spPr>
          <a:xfrm>
            <a:off x="1957866" y="2995365"/>
            <a:ext cx="437512" cy="655919"/>
          </a:xfrm>
          <a:custGeom>
            <a:avLst/>
            <a:gdLst/>
            <a:ahLst/>
            <a:cxnLst/>
            <a:rect l="l" t="t" r="r" b="b"/>
            <a:pathLst>
              <a:path w="437512" h="655919">
                <a:moveTo>
                  <a:pt x="0" y="0"/>
                </a:moveTo>
                <a:lnTo>
                  <a:pt x="437512" y="0"/>
                </a:lnTo>
                <a:lnTo>
                  <a:pt x="437512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426574" y="3421712"/>
            <a:ext cx="3500096" cy="1082267"/>
          </a:xfrm>
          <a:custGeom>
            <a:avLst/>
            <a:gdLst/>
            <a:ahLst/>
            <a:cxnLst/>
            <a:rect l="l" t="t" r="r" b="b"/>
            <a:pathLst>
              <a:path w="3500096" h="1082267">
                <a:moveTo>
                  <a:pt x="0" y="0"/>
                </a:moveTo>
                <a:lnTo>
                  <a:pt x="3500096" y="0"/>
                </a:lnTo>
                <a:lnTo>
                  <a:pt x="3500096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388133" y="3763270"/>
            <a:ext cx="1493911" cy="3039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57"/>
              </a:lnSpc>
            </a:pPr>
            <a:r>
              <a:rPr lang="en-US" sz="1705" b="1" spc="-50">
                <a:solidFill>
                  <a:srgbClr val="2D7280"/>
                </a:solidFill>
                <a:latin typeface="Inter Bold"/>
                <a:ea typeface="Inter Bold"/>
                <a:cs typeface="Inter Bold"/>
                <a:sym typeface="Inter Bold"/>
              </a:rPr>
              <a:t>Preprocessing</a:t>
            </a:r>
          </a:p>
        </p:txBody>
      </p:sp>
      <p:sp>
        <p:nvSpPr>
          <p:cNvPr id="10" name="Freeform 10"/>
          <p:cNvSpPr/>
          <p:nvPr/>
        </p:nvSpPr>
        <p:spPr>
          <a:xfrm>
            <a:off x="1957866" y="4285339"/>
            <a:ext cx="437512" cy="437279"/>
          </a:xfrm>
          <a:custGeom>
            <a:avLst/>
            <a:gdLst/>
            <a:ahLst/>
            <a:cxnLst/>
            <a:rect l="l" t="t" r="r" b="b"/>
            <a:pathLst>
              <a:path w="437512" h="437279">
                <a:moveTo>
                  <a:pt x="0" y="0"/>
                </a:moveTo>
                <a:lnTo>
                  <a:pt x="437512" y="0"/>
                </a:lnTo>
                <a:lnTo>
                  <a:pt x="437512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426574" y="4493047"/>
            <a:ext cx="3500096" cy="1082267"/>
          </a:xfrm>
          <a:custGeom>
            <a:avLst/>
            <a:gdLst/>
            <a:ahLst/>
            <a:cxnLst/>
            <a:rect l="l" t="t" r="r" b="b"/>
            <a:pathLst>
              <a:path w="3500096" h="1082267">
                <a:moveTo>
                  <a:pt x="0" y="0"/>
                </a:moveTo>
                <a:lnTo>
                  <a:pt x="3500096" y="0"/>
                </a:lnTo>
                <a:lnTo>
                  <a:pt x="3500096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024830" y="4923958"/>
            <a:ext cx="2220516" cy="3019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36"/>
              </a:lnSpc>
            </a:pPr>
            <a:r>
              <a:rPr lang="en-US" sz="1757" b="1" spc="-52">
                <a:solidFill>
                  <a:srgbClr val="462184"/>
                </a:solidFill>
                <a:latin typeface="Inter Bold"/>
                <a:ea typeface="Inter Bold"/>
                <a:cs typeface="Inter Bold"/>
                <a:sym typeface="Inter Bold"/>
              </a:rPr>
              <a:t>Pretrained ResNet50</a:t>
            </a:r>
          </a:p>
        </p:txBody>
      </p:sp>
      <p:sp>
        <p:nvSpPr>
          <p:cNvPr id="13" name="Freeform 13"/>
          <p:cNvSpPr/>
          <p:nvPr/>
        </p:nvSpPr>
        <p:spPr>
          <a:xfrm>
            <a:off x="1957866" y="5356674"/>
            <a:ext cx="437512" cy="644987"/>
          </a:xfrm>
          <a:custGeom>
            <a:avLst/>
            <a:gdLst/>
            <a:ahLst/>
            <a:cxnLst/>
            <a:rect l="l" t="t" r="r" b="b"/>
            <a:pathLst>
              <a:path w="437512" h="644987">
                <a:moveTo>
                  <a:pt x="0" y="0"/>
                </a:moveTo>
                <a:lnTo>
                  <a:pt x="437512" y="0"/>
                </a:lnTo>
                <a:lnTo>
                  <a:pt x="437512" y="644987"/>
                </a:lnTo>
                <a:lnTo>
                  <a:pt x="0" y="64498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426574" y="5783021"/>
            <a:ext cx="3500096" cy="863627"/>
          </a:xfrm>
          <a:custGeom>
            <a:avLst/>
            <a:gdLst/>
            <a:ahLst/>
            <a:cxnLst/>
            <a:rect l="l" t="t" r="r" b="b"/>
            <a:pathLst>
              <a:path w="3500096" h="863627">
                <a:moveTo>
                  <a:pt x="0" y="0"/>
                </a:moveTo>
                <a:lnTo>
                  <a:pt x="3500096" y="0"/>
                </a:lnTo>
                <a:lnTo>
                  <a:pt x="3500096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831449" y="6066197"/>
            <a:ext cx="2607279" cy="327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15"/>
              </a:lnSpc>
            </a:pPr>
            <a:r>
              <a:rPr lang="en-US" sz="1810" b="1" spc="-53">
                <a:solidFill>
                  <a:srgbClr val="2D7280"/>
                </a:solidFill>
                <a:latin typeface="Inter Bold"/>
                <a:ea typeface="Inter Bold"/>
                <a:cs typeface="Inter Bold"/>
                <a:sym typeface="Inter Bold"/>
              </a:rPr>
              <a:t>Deep Feature Extraction</a:t>
            </a:r>
          </a:p>
        </p:txBody>
      </p:sp>
      <p:sp>
        <p:nvSpPr>
          <p:cNvPr id="16" name="Freeform 16"/>
          <p:cNvSpPr/>
          <p:nvPr/>
        </p:nvSpPr>
        <p:spPr>
          <a:xfrm>
            <a:off x="1957866" y="6635716"/>
            <a:ext cx="437512" cy="437279"/>
          </a:xfrm>
          <a:custGeom>
            <a:avLst/>
            <a:gdLst/>
            <a:ahLst/>
            <a:cxnLst/>
            <a:rect l="l" t="t" r="r" b="b"/>
            <a:pathLst>
              <a:path w="437512" h="437279">
                <a:moveTo>
                  <a:pt x="0" y="0"/>
                </a:moveTo>
                <a:lnTo>
                  <a:pt x="437512" y="0"/>
                </a:lnTo>
                <a:lnTo>
                  <a:pt x="437512" y="437280"/>
                </a:lnTo>
                <a:lnTo>
                  <a:pt x="0" y="43728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426574" y="6854356"/>
            <a:ext cx="3500096" cy="1082267"/>
          </a:xfrm>
          <a:custGeom>
            <a:avLst/>
            <a:gdLst/>
            <a:ahLst/>
            <a:cxnLst/>
            <a:rect l="l" t="t" r="r" b="b"/>
            <a:pathLst>
              <a:path w="3500096" h="1082267">
                <a:moveTo>
                  <a:pt x="0" y="0"/>
                </a:moveTo>
                <a:lnTo>
                  <a:pt x="3500096" y="0"/>
                </a:lnTo>
                <a:lnTo>
                  <a:pt x="3500096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1126164" y="7228267"/>
            <a:ext cx="2017849" cy="3019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36"/>
              </a:lnSpc>
            </a:pPr>
            <a:r>
              <a:rPr lang="en-US" sz="1757" b="1" spc="-52">
                <a:solidFill>
                  <a:srgbClr val="0A2A66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Classification Head</a:t>
            </a:r>
          </a:p>
        </p:txBody>
      </p:sp>
      <p:sp>
        <p:nvSpPr>
          <p:cNvPr id="19" name="Freeform 19"/>
          <p:cNvSpPr/>
          <p:nvPr/>
        </p:nvSpPr>
        <p:spPr>
          <a:xfrm>
            <a:off x="1957866" y="7707051"/>
            <a:ext cx="437512" cy="437279"/>
          </a:xfrm>
          <a:custGeom>
            <a:avLst/>
            <a:gdLst/>
            <a:ahLst/>
            <a:cxnLst/>
            <a:rect l="l" t="t" r="r" b="b"/>
            <a:pathLst>
              <a:path w="437512" h="437279">
                <a:moveTo>
                  <a:pt x="0" y="0"/>
                </a:moveTo>
                <a:lnTo>
                  <a:pt x="437512" y="0"/>
                </a:lnTo>
                <a:lnTo>
                  <a:pt x="437512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426574" y="8133399"/>
            <a:ext cx="3500096" cy="874559"/>
          </a:xfrm>
          <a:custGeom>
            <a:avLst/>
            <a:gdLst/>
            <a:ahLst/>
            <a:cxnLst/>
            <a:rect l="l" t="t" r="r" b="b"/>
            <a:pathLst>
              <a:path w="3500096" h="874559">
                <a:moveTo>
                  <a:pt x="0" y="0"/>
                </a:moveTo>
                <a:lnTo>
                  <a:pt x="3500096" y="0"/>
                </a:lnTo>
                <a:lnTo>
                  <a:pt x="3500096" y="874558"/>
                </a:lnTo>
                <a:lnTo>
                  <a:pt x="0" y="874558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21" name="TextBox 21"/>
          <p:cNvSpPr txBox="1"/>
          <p:nvPr/>
        </p:nvSpPr>
        <p:spPr>
          <a:xfrm>
            <a:off x="776617" y="8370506"/>
            <a:ext cx="2716943" cy="327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15"/>
              </a:lnSpc>
            </a:pPr>
            <a:r>
              <a:rPr lang="en-US" sz="1810" b="1" spc="-53">
                <a:solidFill>
                  <a:srgbClr val="0A2A66"/>
                </a:solidFill>
                <a:latin typeface="Inter Bold"/>
                <a:ea typeface="Inter Bold"/>
                <a:cs typeface="Inter Bold"/>
                <a:sym typeface="Inter Bold"/>
              </a:rPr>
              <a:t>Predicted Alphabet / Sign</a:t>
            </a:r>
          </a:p>
        </p:txBody>
      </p:sp>
      <p:sp>
        <p:nvSpPr>
          <p:cNvPr id="22" name="Freeform 22"/>
          <p:cNvSpPr/>
          <p:nvPr/>
        </p:nvSpPr>
        <p:spPr>
          <a:xfrm>
            <a:off x="3696976" y="4066699"/>
            <a:ext cx="1093780" cy="3224936"/>
          </a:xfrm>
          <a:custGeom>
            <a:avLst/>
            <a:gdLst/>
            <a:ahLst/>
            <a:cxnLst/>
            <a:rect l="l" t="t" r="r" b="b"/>
            <a:pathLst>
              <a:path w="1093780" h="3224936">
                <a:moveTo>
                  <a:pt x="0" y="0"/>
                </a:moveTo>
                <a:lnTo>
                  <a:pt x="1093780" y="0"/>
                </a:lnTo>
                <a:lnTo>
                  <a:pt x="1093780" y="3224936"/>
                </a:lnTo>
                <a:lnTo>
                  <a:pt x="0" y="3224936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</p:sp>
      <p:sp>
        <p:nvSpPr>
          <p:cNvPr id="23" name="Freeform 23"/>
          <p:cNvSpPr/>
          <p:nvPr/>
        </p:nvSpPr>
        <p:spPr>
          <a:xfrm>
            <a:off x="4572000" y="2569017"/>
            <a:ext cx="8498670" cy="6438940"/>
          </a:xfrm>
          <a:custGeom>
            <a:avLst/>
            <a:gdLst/>
            <a:ahLst/>
            <a:cxnLst/>
            <a:rect l="l" t="t" r="r" b="b"/>
            <a:pathLst>
              <a:path w="8498670" h="6438940">
                <a:moveTo>
                  <a:pt x="0" y="0"/>
                </a:moveTo>
                <a:lnTo>
                  <a:pt x="8498670" y="0"/>
                </a:lnTo>
                <a:lnTo>
                  <a:pt x="8498670" y="6438940"/>
                </a:lnTo>
                <a:lnTo>
                  <a:pt x="0" y="643894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</p:sp>
      <p:sp>
        <p:nvSpPr>
          <p:cNvPr id="24" name="Freeform 24"/>
          <p:cNvSpPr/>
          <p:nvPr/>
        </p:nvSpPr>
        <p:spPr>
          <a:xfrm>
            <a:off x="4572000" y="3848060"/>
            <a:ext cx="2614134" cy="3224936"/>
          </a:xfrm>
          <a:custGeom>
            <a:avLst/>
            <a:gdLst/>
            <a:ahLst/>
            <a:cxnLst/>
            <a:rect l="l" t="t" r="r" b="b"/>
            <a:pathLst>
              <a:path w="2614134" h="3224936">
                <a:moveTo>
                  <a:pt x="0" y="0"/>
                </a:moveTo>
                <a:lnTo>
                  <a:pt x="2614134" y="0"/>
                </a:lnTo>
                <a:lnTo>
                  <a:pt x="2614134" y="3224936"/>
                </a:lnTo>
                <a:lnTo>
                  <a:pt x="0" y="3224936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</p:sp>
      <p:sp>
        <p:nvSpPr>
          <p:cNvPr id="25" name="TextBox 25"/>
          <p:cNvSpPr txBox="1"/>
          <p:nvPr/>
        </p:nvSpPr>
        <p:spPr>
          <a:xfrm>
            <a:off x="6095048" y="3534913"/>
            <a:ext cx="612397" cy="5044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48"/>
              </a:lnSpc>
            </a:pPr>
            <a:r>
              <a:rPr lang="en-US" sz="1863" b="1" spc="-55">
                <a:solidFill>
                  <a:srgbClr val="0A2A66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Conv</a:t>
            </a:r>
          </a:p>
          <a:p>
            <a:pPr algn="ctr">
              <a:lnSpc>
                <a:spcPts val="2048"/>
              </a:lnSpc>
            </a:pPr>
            <a:r>
              <a:rPr lang="en-US" sz="1863" b="1" spc="-55">
                <a:solidFill>
                  <a:srgbClr val="0A2A66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Block</a:t>
            </a:r>
          </a:p>
        </p:txBody>
      </p:sp>
      <p:sp>
        <p:nvSpPr>
          <p:cNvPr id="26" name="Freeform 26"/>
          <p:cNvSpPr/>
          <p:nvPr/>
        </p:nvSpPr>
        <p:spPr>
          <a:xfrm>
            <a:off x="6311110" y="4066699"/>
            <a:ext cx="875024" cy="863627"/>
          </a:xfrm>
          <a:custGeom>
            <a:avLst/>
            <a:gdLst/>
            <a:ahLst/>
            <a:cxnLst/>
            <a:rect l="l" t="t" r="r" b="b"/>
            <a:pathLst>
              <a:path w="875024" h="863627">
                <a:moveTo>
                  <a:pt x="0" y="0"/>
                </a:moveTo>
                <a:lnTo>
                  <a:pt x="875024" y="0"/>
                </a:lnTo>
                <a:lnTo>
                  <a:pt x="875024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</p:sp>
      <p:sp>
        <p:nvSpPr>
          <p:cNvPr id="27" name="Freeform 27"/>
          <p:cNvSpPr/>
          <p:nvPr/>
        </p:nvSpPr>
        <p:spPr>
          <a:xfrm>
            <a:off x="7393952" y="4066699"/>
            <a:ext cx="1968804" cy="2798589"/>
          </a:xfrm>
          <a:custGeom>
            <a:avLst/>
            <a:gdLst/>
            <a:ahLst/>
            <a:cxnLst/>
            <a:rect l="l" t="t" r="r" b="b"/>
            <a:pathLst>
              <a:path w="1968804" h="2798589">
                <a:moveTo>
                  <a:pt x="0" y="0"/>
                </a:moveTo>
                <a:lnTo>
                  <a:pt x="1968804" y="0"/>
                </a:lnTo>
                <a:lnTo>
                  <a:pt x="1968804" y="2798589"/>
                </a:lnTo>
                <a:lnTo>
                  <a:pt x="0" y="2798589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/>
            </a:stretch>
          </a:blipFill>
        </p:spPr>
      </p:sp>
      <p:sp>
        <p:nvSpPr>
          <p:cNvPr id="28" name="TextBox 28"/>
          <p:cNvSpPr txBox="1"/>
          <p:nvPr/>
        </p:nvSpPr>
        <p:spPr>
          <a:xfrm>
            <a:off x="8127003" y="3534913"/>
            <a:ext cx="620424" cy="5044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48"/>
              </a:lnSpc>
            </a:pPr>
            <a:r>
              <a:rPr lang="en-US" sz="1863" b="1" spc="-55">
                <a:solidFill>
                  <a:srgbClr val="0A2A66"/>
                </a:solidFill>
                <a:latin typeface="Inter Bold"/>
                <a:ea typeface="Inter Bold"/>
                <a:cs typeface="Inter Bold"/>
                <a:sym typeface="Inter Bold"/>
              </a:rPr>
              <a:t>Conv</a:t>
            </a:r>
          </a:p>
          <a:p>
            <a:pPr algn="ctr">
              <a:lnSpc>
                <a:spcPts val="2048"/>
              </a:lnSpc>
            </a:pPr>
            <a:r>
              <a:rPr lang="en-US" sz="1863" b="1" spc="-55">
                <a:solidFill>
                  <a:srgbClr val="0A2A66"/>
                </a:solidFill>
                <a:latin typeface="Inter Bold"/>
                <a:ea typeface="Inter Bold"/>
                <a:cs typeface="Inter Bold"/>
                <a:sym typeface="Inter Bold"/>
              </a:rPr>
              <a:t>Block</a:t>
            </a:r>
          </a:p>
        </p:txBody>
      </p:sp>
      <p:sp>
        <p:nvSpPr>
          <p:cNvPr id="29" name="Freeform 29"/>
          <p:cNvSpPr/>
          <p:nvPr/>
        </p:nvSpPr>
        <p:spPr>
          <a:xfrm>
            <a:off x="8487732" y="4066699"/>
            <a:ext cx="875024" cy="863627"/>
          </a:xfrm>
          <a:custGeom>
            <a:avLst/>
            <a:gdLst/>
            <a:ahLst/>
            <a:cxnLst/>
            <a:rect l="l" t="t" r="r" b="b"/>
            <a:pathLst>
              <a:path w="875024" h="863627">
                <a:moveTo>
                  <a:pt x="0" y="0"/>
                </a:moveTo>
                <a:lnTo>
                  <a:pt x="875024" y="0"/>
                </a:lnTo>
                <a:lnTo>
                  <a:pt x="875024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/>
            </a:stretch>
          </a:blipFill>
        </p:spPr>
      </p:sp>
      <p:sp>
        <p:nvSpPr>
          <p:cNvPr id="30" name="Freeform 30"/>
          <p:cNvSpPr/>
          <p:nvPr/>
        </p:nvSpPr>
        <p:spPr>
          <a:xfrm>
            <a:off x="10226842" y="4285339"/>
            <a:ext cx="2625072" cy="2579949"/>
          </a:xfrm>
          <a:custGeom>
            <a:avLst/>
            <a:gdLst/>
            <a:ahLst/>
            <a:cxnLst/>
            <a:rect l="l" t="t" r="r" b="b"/>
            <a:pathLst>
              <a:path w="2625072" h="2579949">
                <a:moveTo>
                  <a:pt x="0" y="0"/>
                </a:moveTo>
                <a:lnTo>
                  <a:pt x="2625072" y="0"/>
                </a:lnTo>
                <a:lnTo>
                  <a:pt x="2625072" y="2579949"/>
                </a:lnTo>
                <a:lnTo>
                  <a:pt x="0" y="2579949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/>
            </a:stretch>
          </a:blipFill>
        </p:spPr>
      </p:sp>
      <p:sp>
        <p:nvSpPr>
          <p:cNvPr id="31" name="Freeform 31"/>
          <p:cNvSpPr/>
          <p:nvPr/>
        </p:nvSpPr>
        <p:spPr>
          <a:xfrm>
            <a:off x="9570574" y="5564382"/>
            <a:ext cx="667206" cy="229572"/>
          </a:xfrm>
          <a:custGeom>
            <a:avLst/>
            <a:gdLst/>
            <a:ahLst/>
            <a:cxnLst/>
            <a:rect l="l" t="t" r="r" b="b"/>
            <a:pathLst>
              <a:path w="667206" h="229572">
                <a:moveTo>
                  <a:pt x="0" y="0"/>
                </a:moveTo>
                <a:lnTo>
                  <a:pt x="667206" y="0"/>
                </a:lnTo>
                <a:lnTo>
                  <a:pt x="667206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/>
            </a:stretch>
          </a:blipFill>
        </p:spPr>
      </p:sp>
      <p:sp>
        <p:nvSpPr>
          <p:cNvPr id="32" name="Freeform 32"/>
          <p:cNvSpPr/>
          <p:nvPr/>
        </p:nvSpPr>
        <p:spPr>
          <a:xfrm>
            <a:off x="6956440" y="7925691"/>
            <a:ext cx="3500096" cy="863627"/>
          </a:xfrm>
          <a:custGeom>
            <a:avLst/>
            <a:gdLst/>
            <a:ahLst/>
            <a:cxnLst/>
            <a:rect l="l" t="t" r="r" b="b"/>
            <a:pathLst>
              <a:path w="3500096" h="863627">
                <a:moveTo>
                  <a:pt x="0" y="0"/>
                </a:moveTo>
                <a:lnTo>
                  <a:pt x="3500096" y="0"/>
                </a:lnTo>
                <a:lnTo>
                  <a:pt x="3500096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/>
            </a:stretch>
          </a:blipFill>
        </p:spPr>
      </p:sp>
      <p:sp>
        <p:nvSpPr>
          <p:cNvPr id="33" name="TextBox 33"/>
          <p:cNvSpPr txBox="1"/>
          <p:nvPr/>
        </p:nvSpPr>
        <p:spPr>
          <a:xfrm>
            <a:off x="7279217" y="8119784"/>
            <a:ext cx="2739265" cy="4357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44"/>
              </a:lnSpc>
            </a:pPr>
            <a:r>
              <a:rPr lang="en-US" sz="2496" b="1" spc="-49">
                <a:solidFill>
                  <a:srgbClr val="F8F8F8"/>
                </a:solidFill>
                <a:latin typeface="Inter Bold"/>
                <a:ea typeface="Inter Bold"/>
                <a:cs typeface="Inter Bold"/>
                <a:sym typeface="Inter Bold"/>
              </a:rPr>
              <a:t>Transfer Learning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3626655" y="2968265"/>
            <a:ext cx="3576733" cy="8789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33"/>
              </a:lnSpc>
            </a:pPr>
            <a:r>
              <a:rPr lang="en-US" sz="2355" b="1" spc="-70">
                <a:solidFill>
                  <a:srgbClr val="0A2A66"/>
                </a:solidFill>
                <a:latin typeface="Inter Bold"/>
                <a:ea typeface="Inter Bold"/>
                <a:cs typeface="Inter Bold"/>
                <a:sym typeface="Inter Bold"/>
              </a:rPr>
              <a:t>ResNet50</a:t>
            </a:r>
            <a:r>
              <a:rPr lang="en-US" sz="2355" spc="-70">
                <a:solidFill>
                  <a:srgbClr val="0A2A66"/>
                </a:solidFill>
                <a:latin typeface="Inter"/>
                <a:ea typeface="Inter"/>
                <a:cs typeface="Inter"/>
                <a:sym typeface="Inter"/>
              </a:rPr>
              <a:t> is the</a:t>
            </a:r>
          </a:p>
          <a:p>
            <a:pPr algn="l">
              <a:lnSpc>
                <a:spcPts val="3533"/>
              </a:lnSpc>
            </a:pPr>
            <a:r>
              <a:rPr lang="en-US" sz="2355" spc="-70">
                <a:solidFill>
                  <a:srgbClr val="0A2A66"/>
                </a:solidFill>
                <a:latin typeface="Inter"/>
                <a:ea typeface="Inter"/>
                <a:cs typeface="Inter"/>
                <a:sym typeface="Inter"/>
              </a:rPr>
              <a:t>pretrained CNN backbone.</a:t>
            </a:r>
          </a:p>
        </p:txBody>
      </p:sp>
      <p:sp>
        <p:nvSpPr>
          <p:cNvPr id="35" name="Freeform 35"/>
          <p:cNvSpPr/>
          <p:nvPr/>
        </p:nvSpPr>
        <p:spPr>
          <a:xfrm>
            <a:off x="13497244" y="4285339"/>
            <a:ext cx="4364182" cy="218640"/>
          </a:xfrm>
          <a:custGeom>
            <a:avLst/>
            <a:gdLst/>
            <a:ahLst/>
            <a:cxnLst/>
            <a:rect l="l" t="t" r="r" b="b"/>
            <a:pathLst>
              <a:path w="4364182" h="218640">
                <a:moveTo>
                  <a:pt x="0" y="0"/>
                </a:moveTo>
                <a:lnTo>
                  <a:pt x="4364182" y="0"/>
                </a:lnTo>
                <a:lnTo>
                  <a:pt x="4364182" y="218640"/>
                </a:lnTo>
                <a:lnTo>
                  <a:pt x="0" y="218640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/>
            </a:stretch>
          </a:blipFill>
        </p:spPr>
      </p:sp>
      <p:sp>
        <p:nvSpPr>
          <p:cNvPr id="36" name="TextBox 36"/>
          <p:cNvSpPr txBox="1"/>
          <p:nvPr/>
        </p:nvSpPr>
        <p:spPr>
          <a:xfrm>
            <a:off x="13623354" y="4854775"/>
            <a:ext cx="3906788" cy="12750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01"/>
              </a:lnSpc>
            </a:pPr>
            <a:r>
              <a:rPr lang="en-US" sz="2267" spc="-67">
                <a:solidFill>
                  <a:srgbClr val="0A2A66"/>
                </a:solidFill>
                <a:latin typeface="Inter"/>
                <a:ea typeface="Inter"/>
                <a:cs typeface="Inter"/>
                <a:sym typeface="Inter"/>
              </a:rPr>
              <a:t>Deep convolutional</a:t>
            </a:r>
          </a:p>
          <a:p>
            <a:pPr algn="l">
              <a:lnSpc>
                <a:spcPts val="3401"/>
              </a:lnSpc>
            </a:pPr>
            <a:r>
              <a:rPr lang="en-US" sz="2267" spc="-67">
                <a:solidFill>
                  <a:srgbClr val="0A2A66"/>
                </a:solidFill>
                <a:latin typeface="Inter"/>
                <a:ea typeface="Inter"/>
                <a:cs typeface="Inter"/>
                <a:sym typeface="Inter"/>
              </a:rPr>
              <a:t>features capture </a:t>
            </a:r>
            <a:r>
              <a:rPr lang="en-US" sz="2267" b="1" spc="-67">
                <a:solidFill>
                  <a:srgbClr val="0A2A66"/>
                </a:solidFill>
                <a:latin typeface="Inter Bold"/>
                <a:ea typeface="Inter Bold"/>
                <a:cs typeface="Inter Bold"/>
                <a:sym typeface="Inter Bold"/>
              </a:rPr>
              <a:t>visual</a:t>
            </a:r>
          </a:p>
          <a:p>
            <a:pPr algn="l">
              <a:lnSpc>
                <a:spcPts val="3401"/>
              </a:lnSpc>
            </a:pPr>
            <a:r>
              <a:rPr lang="en-US" sz="2267" b="1" spc="-67">
                <a:solidFill>
                  <a:srgbClr val="0A2A66"/>
                </a:solidFill>
                <a:latin typeface="Inter Bold"/>
                <a:ea typeface="Inter Bold"/>
                <a:cs typeface="Inter Bold"/>
                <a:sym typeface="Inter Bold"/>
              </a:rPr>
              <a:t>characteristics</a:t>
            </a:r>
            <a:r>
              <a:rPr lang="en-US" sz="2267" spc="-67">
                <a:solidFill>
                  <a:srgbClr val="0A2A66"/>
                </a:solidFill>
                <a:latin typeface="Inter"/>
                <a:ea typeface="Inter"/>
                <a:cs typeface="Inter"/>
                <a:sym typeface="Inter"/>
              </a:rPr>
              <a:t> of hand signs.</a:t>
            </a:r>
          </a:p>
        </p:txBody>
      </p:sp>
      <p:sp>
        <p:nvSpPr>
          <p:cNvPr id="37" name="Freeform 37"/>
          <p:cNvSpPr/>
          <p:nvPr/>
        </p:nvSpPr>
        <p:spPr>
          <a:xfrm>
            <a:off x="13497244" y="6635716"/>
            <a:ext cx="4364182" cy="229572"/>
          </a:xfrm>
          <a:custGeom>
            <a:avLst/>
            <a:gdLst/>
            <a:ahLst/>
            <a:cxnLst/>
            <a:rect l="l" t="t" r="r" b="b"/>
            <a:pathLst>
              <a:path w="4364182" h="229572">
                <a:moveTo>
                  <a:pt x="0" y="0"/>
                </a:moveTo>
                <a:lnTo>
                  <a:pt x="4364182" y="0"/>
                </a:lnTo>
                <a:lnTo>
                  <a:pt x="4364182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/>
            </a:stretch>
          </a:blipFill>
        </p:spPr>
      </p:sp>
      <p:sp>
        <p:nvSpPr>
          <p:cNvPr id="38" name="TextBox 38"/>
          <p:cNvSpPr txBox="1"/>
          <p:nvPr/>
        </p:nvSpPr>
        <p:spPr>
          <a:xfrm>
            <a:off x="13626980" y="7139324"/>
            <a:ext cx="3544226" cy="1263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67"/>
              </a:lnSpc>
            </a:pPr>
            <a:r>
              <a:rPr lang="en-US" sz="2311" spc="-68">
                <a:solidFill>
                  <a:srgbClr val="0A2A66"/>
                </a:solidFill>
                <a:latin typeface="Inter"/>
                <a:ea typeface="Inter"/>
                <a:cs typeface="Inter"/>
                <a:sym typeface="Inter"/>
              </a:rPr>
              <a:t>The </a:t>
            </a:r>
            <a:r>
              <a:rPr lang="en-US" sz="2311" b="1" spc="-68">
                <a:solidFill>
                  <a:srgbClr val="0A2A66"/>
                </a:solidFill>
                <a:latin typeface="Inter Bold"/>
                <a:ea typeface="Inter Bold"/>
                <a:cs typeface="Inter Bold"/>
                <a:sym typeface="Inter Bold"/>
              </a:rPr>
              <a:t>classification head</a:t>
            </a:r>
          </a:p>
          <a:p>
            <a:pPr algn="l">
              <a:lnSpc>
                <a:spcPts val="3467"/>
              </a:lnSpc>
            </a:pPr>
            <a:r>
              <a:rPr lang="en-US" sz="2311" spc="-68">
                <a:solidFill>
                  <a:srgbClr val="0A2A66"/>
                </a:solidFill>
                <a:latin typeface="Inter"/>
                <a:ea typeface="Inter"/>
                <a:cs typeface="Inter"/>
                <a:sym typeface="Inter"/>
              </a:rPr>
              <a:t>predicts the corresponding</a:t>
            </a:r>
          </a:p>
          <a:p>
            <a:pPr algn="l">
              <a:lnSpc>
                <a:spcPts val="3467"/>
              </a:lnSpc>
            </a:pPr>
            <a:r>
              <a:rPr lang="en-US" sz="2311" spc="-68">
                <a:solidFill>
                  <a:srgbClr val="0A2A66"/>
                </a:solidFill>
                <a:latin typeface="Inter"/>
                <a:ea typeface="Inter"/>
                <a:cs typeface="Inter"/>
                <a:sym typeface="Inter"/>
              </a:rPr>
              <a:t>sign class.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0611220" y="3794395"/>
            <a:ext cx="1633452" cy="3019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36"/>
              </a:lnSpc>
            </a:pPr>
            <a:r>
              <a:rPr lang="en-US" sz="1757" b="1" spc="-52">
                <a:solidFill>
                  <a:srgbClr val="0A2A66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Conv   Avg Pool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3497244" y="1705390"/>
            <a:ext cx="4790756" cy="8581610"/>
          </a:xfrm>
          <a:custGeom>
            <a:avLst/>
            <a:gdLst/>
            <a:ahLst/>
            <a:cxnLst/>
            <a:rect l="l" t="t" r="r" b="b"/>
            <a:pathLst>
              <a:path w="4790756" h="8581610">
                <a:moveTo>
                  <a:pt x="0" y="0"/>
                </a:moveTo>
                <a:lnTo>
                  <a:pt x="4790756" y="0"/>
                </a:lnTo>
                <a:lnTo>
                  <a:pt x="4790756" y="8581610"/>
                </a:lnTo>
                <a:lnTo>
                  <a:pt x="0" y="85816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426022" y="571693"/>
            <a:ext cx="14737777" cy="7694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010"/>
              </a:lnSpc>
            </a:pPr>
            <a:r>
              <a:rPr lang="en-US" sz="5007" b="1" spc="-48" dirty="0">
                <a:solidFill>
                  <a:srgbClr val="0F3260"/>
                </a:solidFill>
                <a:latin typeface="Inter Bold"/>
                <a:ea typeface="Inter Bold"/>
                <a:cs typeface="Inter Bold"/>
                <a:sym typeface="Inter Bold"/>
              </a:rPr>
              <a:t>Proposed Sequential Sign-to-Text Extension</a:t>
            </a:r>
          </a:p>
        </p:txBody>
      </p:sp>
      <p:sp>
        <p:nvSpPr>
          <p:cNvPr id="5" name="Freeform 5"/>
          <p:cNvSpPr/>
          <p:nvPr/>
        </p:nvSpPr>
        <p:spPr>
          <a:xfrm>
            <a:off x="426574" y="1497682"/>
            <a:ext cx="3281340" cy="218640"/>
          </a:xfrm>
          <a:custGeom>
            <a:avLst/>
            <a:gdLst/>
            <a:ahLst/>
            <a:cxnLst/>
            <a:rect l="l" t="t" r="r" b="b"/>
            <a:pathLst>
              <a:path w="3281340" h="218640">
                <a:moveTo>
                  <a:pt x="0" y="0"/>
                </a:moveTo>
                <a:lnTo>
                  <a:pt x="3281340" y="0"/>
                </a:lnTo>
                <a:lnTo>
                  <a:pt x="3281340" y="218640"/>
                </a:lnTo>
                <a:lnTo>
                  <a:pt x="0" y="21864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426574" y="1705390"/>
            <a:ext cx="12644096" cy="874559"/>
          </a:xfrm>
          <a:custGeom>
            <a:avLst/>
            <a:gdLst/>
            <a:ahLst/>
            <a:cxnLst/>
            <a:rect l="l" t="t" r="r" b="b"/>
            <a:pathLst>
              <a:path w="12644096" h="874559">
                <a:moveTo>
                  <a:pt x="0" y="0"/>
                </a:moveTo>
                <a:lnTo>
                  <a:pt x="12644096" y="0"/>
                </a:lnTo>
                <a:lnTo>
                  <a:pt x="12644096" y="874559"/>
                </a:lnTo>
                <a:lnTo>
                  <a:pt x="0" y="87455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312664" y="1995812"/>
            <a:ext cx="11599664" cy="3212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6"/>
              </a:lnSpc>
            </a:pPr>
            <a:r>
              <a:rPr lang="en-US" sz="2188" b="1">
                <a:solidFill>
                  <a:srgbClr val="F6F6F6"/>
                </a:solidFill>
                <a:latin typeface="Inter Bold"/>
                <a:ea typeface="Inter Bold"/>
                <a:cs typeface="Inter Bold"/>
                <a:sym typeface="Inter Bold"/>
              </a:rPr>
              <a:t>PROPOSED FUTURE EXTENSION — NOT PART OF THE CURRENT IMPLEMENTATION</a:t>
            </a:r>
          </a:p>
        </p:txBody>
      </p:sp>
      <p:sp>
        <p:nvSpPr>
          <p:cNvPr id="8" name="Freeform 8"/>
          <p:cNvSpPr/>
          <p:nvPr/>
        </p:nvSpPr>
        <p:spPr>
          <a:xfrm>
            <a:off x="1520354" y="2569017"/>
            <a:ext cx="6103292" cy="1082267"/>
          </a:xfrm>
          <a:custGeom>
            <a:avLst/>
            <a:gdLst/>
            <a:ahLst/>
            <a:cxnLst/>
            <a:rect l="l" t="t" r="r" b="b"/>
            <a:pathLst>
              <a:path w="6103292" h="1082267">
                <a:moveTo>
                  <a:pt x="0" y="0"/>
                </a:moveTo>
                <a:lnTo>
                  <a:pt x="6103292" y="0"/>
                </a:lnTo>
                <a:lnTo>
                  <a:pt x="6103292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2176622" y="2569017"/>
            <a:ext cx="1093780" cy="1082267"/>
          </a:xfrm>
          <a:custGeom>
            <a:avLst/>
            <a:gdLst/>
            <a:ahLst/>
            <a:cxnLst/>
            <a:rect l="l" t="t" r="r" b="b"/>
            <a:pathLst>
              <a:path w="1093780" h="1082267">
                <a:moveTo>
                  <a:pt x="0" y="0"/>
                </a:moveTo>
                <a:lnTo>
                  <a:pt x="1093780" y="0"/>
                </a:lnTo>
                <a:lnTo>
                  <a:pt x="1093780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3608750" y="3014068"/>
            <a:ext cx="3456225" cy="3127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45"/>
              </a:lnSpc>
            </a:pPr>
            <a:r>
              <a:rPr lang="en-US" sz="2223" b="1" spc="-44">
                <a:solidFill>
                  <a:srgbClr val="0F3260"/>
                </a:solidFill>
                <a:latin typeface="Inter Bold"/>
                <a:ea typeface="Inter Bold"/>
                <a:cs typeface="Inter Bold"/>
                <a:sym typeface="Inter Bold"/>
              </a:rPr>
              <a:t>Consecutive Sign Frames</a:t>
            </a:r>
          </a:p>
        </p:txBody>
      </p:sp>
      <p:sp>
        <p:nvSpPr>
          <p:cNvPr id="11" name="Freeform 11"/>
          <p:cNvSpPr/>
          <p:nvPr/>
        </p:nvSpPr>
        <p:spPr>
          <a:xfrm>
            <a:off x="7393952" y="2995365"/>
            <a:ext cx="1750048" cy="229572"/>
          </a:xfrm>
          <a:custGeom>
            <a:avLst/>
            <a:gdLst/>
            <a:ahLst/>
            <a:cxnLst/>
            <a:rect l="l" t="t" r="r" b="b"/>
            <a:pathLst>
              <a:path w="1750048" h="229572">
                <a:moveTo>
                  <a:pt x="0" y="0"/>
                </a:moveTo>
                <a:lnTo>
                  <a:pt x="1750048" y="0"/>
                </a:lnTo>
                <a:lnTo>
                  <a:pt x="1750048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9266087" y="2927324"/>
            <a:ext cx="2971817" cy="5354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6"/>
              </a:lnSpc>
            </a:pPr>
            <a:r>
              <a:rPr lang="en-US" sz="1863" spc="-37">
                <a:solidFill>
                  <a:srgbClr val="0F3260"/>
                </a:solidFill>
                <a:latin typeface="Inter"/>
                <a:ea typeface="Inter"/>
                <a:cs typeface="Inter"/>
                <a:sym typeface="Inter"/>
              </a:rPr>
              <a:t>Sequence of video frames capturing continuous signs</a:t>
            </a:r>
          </a:p>
        </p:txBody>
      </p:sp>
      <p:sp>
        <p:nvSpPr>
          <p:cNvPr id="13" name="Freeform 13"/>
          <p:cNvSpPr/>
          <p:nvPr/>
        </p:nvSpPr>
        <p:spPr>
          <a:xfrm>
            <a:off x="1520354" y="3640352"/>
            <a:ext cx="6103292" cy="1082267"/>
          </a:xfrm>
          <a:custGeom>
            <a:avLst/>
            <a:gdLst/>
            <a:ahLst/>
            <a:cxnLst/>
            <a:rect l="l" t="t" r="r" b="b"/>
            <a:pathLst>
              <a:path w="6103292" h="1082267">
                <a:moveTo>
                  <a:pt x="0" y="0"/>
                </a:moveTo>
                <a:lnTo>
                  <a:pt x="6103292" y="0"/>
                </a:lnTo>
                <a:lnTo>
                  <a:pt x="6103292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2384440" y="3848060"/>
            <a:ext cx="885962" cy="874559"/>
          </a:xfrm>
          <a:custGeom>
            <a:avLst/>
            <a:gdLst/>
            <a:ahLst/>
            <a:cxnLst/>
            <a:rect l="l" t="t" r="r" b="b"/>
            <a:pathLst>
              <a:path w="885962" h="874559">
                <a:moveTo>
                  <a:pt x="0" y="0"/>
                </a:moveTo>
                <a:lnTo>
                  <a:pt x="885962" y="0"/>
                </a:lnTo>
                <a:lnTo>
                  <a:pt x="885962" y="874558"/>
                </a:lnTo>
                <a:lnTo>
                  <a:pt x="0" y="87455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3618525" y="3941704"/>
            <a:ext cx="2478716" cy="6161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45"/>
              </a:lnSpc>
            </a:pPr>
            <a:r>
              <a:rPr lang="en-US" sz="2223" b="1" spc="-44">
                <a:solidFill>
                  <a:srgbClr val="0F3260"/>
                </a:solidFill>
                <a:latin typeface="Inter Bold"/>
                <a:ea typeface="Inter Bold"/>
                <a:cs typeface="Inter Bold"/>
                <a:sym typeface="Inter Bold"/>
              </a:rPr>
              <a:t>CNN / ResNet50</a:t>
            </a:r>
          </a:p>
          <a:p>
            <a:pPr algn="l">
              <a:lnSpc>
                <a:spcPts val="2445"/>
              </a:lnSpc>
            </a:pPr>
            <a:r>
              <a:rPr lang="en-US" sz="2223" b="1" spc="-44">
                <a:solidFill>
                  <a:srgbClr val="0F3260"/>
                </a:solidFill>
                <a:latin typeface="Inter Bold"/>
                <a:ea typeface="Inter Bold"/>
                <a:cs typeface="Inter Bold"/>
                <a:sym typeface="Inter Bold"/>
              </a:rPr>
              <a:t>Feature Extraction</a:t>
            </a:r>
          </a:p>
        </p:txBody>
      </p:sp>
      <p:sp>
        <p:nvSpPr>
          <p:cNvPr id="16" name="Freeform 16"/>
          <p:cNvSpPr/>
          <p:nvPr/>
        </p:nvSpPr>
        <p:spPr>
          <a:xfrm>
            <a:off x="7393952" y="4066699"/>
            <a:ext cx="1750048" cy="229572"/>
          </a:xfrm>
          <a:custGeom>
            <a:avLst/>
            <a:gdLst/>
            <a:ahLst/>
            <a:cxnLst/>
            <a:rect l="l" t="t" r="r" b="b"/>
            <a:pathLst>
              <a:path w="1750048" h="229572">
                <a:moveTo>
                  <a:pt x="0" y="0"/>
                </a:moveTo>
                <a:lnTo>
                  <a:pt x="1750048" y="0"/>
                </a:lnTo>
                <a:lnTo>
                  <a:pt x="1750048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9269114" y="3981582"/>
            <a:ext cx="2669037" cy="5354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6"/>
              </a:lnSpc>
            </a:pPr>
            <a:r>
              <a:rPr lang="en-US" sz="1863" spc="-37">
                <a:solidFill>
                  <a:srgbClr val="0F3260"/>
                </a:solidFill>
                <a:latin typeface="Inter"/>
                <a:ea typeface="Inter"/>
                <a:cs typeface="Inter"/>
                <a:sym typeface="Inter"/>
              </a:rPr>
              <a:t>Visual feature extraction using deep CNN</a:t>
            </a:r>
          </a:p>
        </p:txBody>
      </p:sp>
      <p:sp>
        <p:nvSpPr>
          <p:cNvPr id="18" name="Freeform 18"/>
          <p:cNvSpPr/>
          <p:nvPr/>
        </p:nvSpPr>
        <p:spPr>
          <a:xfrm>
            <a:off x="1520354" y="4711687"/>
            <a:ext cx="6103292" cy="1082267"/>
          </a:xfrm>
          <a:custGeom>
            <a:avLst/>
            <a:gdLst/>
            <a:ahLst/>
            <a:cxnLst/>
            <a:rect l="l" t="t" r="r" b="b"/>
            <a:pathLst>
              <a:path w="6103292" h="1082267">
                <a:moveTo>
                  <a:pt x="0" y="0"/>
                </a:moveTo>
                <a:lnTo>
                  <a:pt x="6103292" y="0"/>
                </a:lnTo>
                <a:lnTo>
                  <a:pt x="6103292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1957866" y="5138034"/>
            <a:ext cx="1531292" cy="437279"/>
          </a:xfrm>
          <a:custGeom>
            <a:avLst/>
            <a:gdLst/>
            <a:ahLst/>
            <a:cxnLst/>
            <a:rect l="l" t="t" r="r" b="b"/>
            <a:pathLst>
              <a:path w="1531292" h="437279">
                <a:moveTo>
                  <a:pt x="0" y="0"/>
                </a:moveTo>
                <a:lnTo>
                  <a:pt x="1531292" y="0"/>
                </a:lnTo>
                <a:lnTo>
                  <a:pt x="1531292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3618770" y="5152708"/>
            <a:ext cx="2454288" cy="3127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45"/>
              </a:lnSpc>
            </a:pPr>
            <a:r>
              <a:rPr lang="en-US" sz="2223" b="1" spc="-44">
                <a:solidFill>
                  <a:srgbClr val="0F3260"/>
                </a:solidFill>
                <a:latin typeface="Inter Bold"/>
                <a:ea typeface="Inter Bold"/>
                <a:cs typeface="Inter Bold"/>
                <a:sym typeface="Inter Bold"/>
              </a:rPr>
              <a:t>Feature Sequence</a:t>
            </a:r>
          </a:p>
        </p:txBody>
      </p:sp>
      <p:sp>
        <p:nvSpPr>
          <p:cNvPr id="21" name="Freeform 21"/>
          <p:cNvSpPr/>
          <p:nvPr/>
        </p:nvSpPr>
        <p:spPr>
          <a:xfrm>
            <a:off x="7393952" y="5138034"/>
            <a:ext cx="1750048" cy="229572"/>
          </a:xfrm>
          <a:custGeom>
            <a:avLst/>
            <a:gdLst/>
            <a:ahLst/>
            <a:cxnLst/>
            <a:rect l="l" t="t" r="r" b="b"/>
            <a:pathLst>
              <a:path w="1750048" h="229572">
                <a:moveTo>
                  <a:pt x="0" y="0"/>
                </a:moveTo>
                <a:lnTo>
                  <a:pt x="1750048" y="0"/>
                </a:lnTo>
                <a:lnTo>
                  <a:pt x="1750048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9272346" y="5050902"/>
            <a:ext cx="2345849" cy="5354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6"/>
              </a:lnSpc>
            </a:pPr>
            <a:r>
              <a:rPr lang="en-US" sz="1863" spc="-37">
                <a:solidFill>
                  <a:srgbClr val="0F3260"/>
                </a:solidFill>
                <a:latin typeface="Inter"/>
                <a:ea typeface="Inter"/>
                <a:cs typeface="Inter"/>
                <a:sym typeface="Inter"/>
              </a:rPr>
              <a:t>Ordered sequence of</a:t>
            </a:r>
          </a:p>
          <a:p>
            <a:pPr algn="l">
              <a:lnSpc>
                <a:spcPts val="2236"/>
              </a:lnSpc>
            </a:pPr>
            <a:r>
              <a:rPr lang="en-US" sz="1863" spc="-37">
                <a:solidFill>
                  <a:srgbClr val="0F3260"/>
                </a:solidFill>
                <a:latin typeface="Inter"/>
                <a:ea typeface="Inter"/>
                <a:cs typeface="Inter"/>
                <a:sym typeface="Inter"/>
              </a:rPr>
              <a:t>visual feature vectors</a:t>
            </a:r>
          </a:p>
        </p:txBody>
      </p:sp>
      <p:sp>
        <p:nvSpPr>
          <p:cNvPr id="23" name="Freeform 23"/>
          <p:cNvSpPr/>
          <p:nvPr/>
        </p:nvSpPr>
        <p:spPr>
          <a:xfrm>
            <a:off x="1520354" y="5783021"/>
            <a:ext cx="6103292" cy="1082267"/>
          </a:xfrm>
          <a:custGeom>
            <a:avLst/>
            <a:gdLst/>
            <a:ahLst/>
            <a:cxnLst/>
            <a:rect l="l" t="t" r="r" b="b"/>
            <a:pathLst>
              <a:path w="6103292" h="1082267">
                <a:moveTo>
                  <a:pt x="0" y="0"/>
                </a:moveTo>
                <a:lnTo>
                  <a:pt x="6103292" y="0"/>
                </a:lnTo>
                <a:lnTo>
                  <a:pt x="6103292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</p:sp>
      <p:sp>
        <p:nvSpPr>
          <p:cNvPr id="24" name="Freeform 24"/>
          <p:cNvSpPr/>
          <p:nvPr/>
        </p:nvSpPr>
        <p:spPr>
          <a:xfrm>
            <a:off x="2384440" y="5990729"/>
            <a:ext cx="885962" cy="874559"/>
          </a:xfrm>
          <a:custGeom>
            <a:avLst/>
            <a:gdLst/>
            <a:ahLst/>
            <a:cxnLst/>
            <a:rect l="l" t="t" r="r" b="b"/>
            <a:pathLst>
              <a:path w="885962" h="874559">
                <a:moveTo>
                  <a:pt x="0" y="0"/>
                </a:moveTo>
                <a:lnTo>
                  <a:pt x="885962" y="0"/>
                </a:lnTo>
                <a:lnTo>
                  <a:pt x="885962" y="874559"/>
                </a:lnTo>
                <a:lnTo>
                  <a:pt x="0" y="874559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</p:sp>
      <p:sp>
        <p:nvSpPr>
          <p:cNvPr id="25" name="TextBox 25"/>
          <p:cNvSpPr txBox="1"/>
          <p:nvPr/>
        </p:nvSpPr>
        <p:spPr>
          <a:xfrm>
            <a:off x="3635222" y="6197482"/>
            <a:ext cx="809085" cy="3317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41"/>
              </a:lnSpc>
            </a:pPr>
            <a:r>
              <a:rPr lang="en-US" sz="2311" b="1" spc="-46">
                <a:solidFill>
                  <a:srgbClr val="0F3260"/>
                </a:solidFill>
                <a:latin typeface="Inter Bold"/>
                <a:ea typeface="Inter Bold"/>
                <a:cs typeface="Inter Bold"/>
                <a:sym typeface="Inter Bold"/>
              </a:rPr>
              <a:t>LSTM</a:t>
            </a:r>
          </a:p>
        </p:txBody>
      </p:sp>
      <p:sp>
        <p:nvSpPr>
          <p:cNvPr id="26" name="Freeform 26"/>
          <p:cNvSpPr/>
          <p:nvPr/>
        </p:nvSpPr>
        <p:spPr>
          <a:xfrm>
            <a:off x="7393952" y="6209369"/>
            <a:ext cx="1750048" cy="229572"/>
          </a:xfrm>
          <a:custGeom>
            <a:avLst/>
            <a:gdLst/>
            <a:ahLst/>
            <a:cxnLst/>
            <a:rect l="l" t="t" r="r" b="b"/>
            <a:pathLst>
              <a:path w="1750048" h="229572">
                <a:moveTo>
                  <a:pt x="0" y="0"/>
                </a:moveTo>
                <a:lnTo>
                  <a:pt x="1750048" y="0"/>
                </a:lnTo>
                <a:lnTo>
                  <a:pt x="1750048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</p:sp>
      <p:sp>
        <p:nvSpPr>
          <p:cNvPr id="27" name="TextBox 27"/>
          <p:cNvSpPr txBox="1"/>
          <p:nvPr/>
        </p:nvSpPr>
        <p:spPr>
          <a:xfrm>
            <a:off x="9272661" y="6059978"/>
            <a:ext cx="2314354" cy="5354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6"/>
              </a:lnSpc>
            </a:pPr>
            <a:r>
              <a:rPr lang="en-US" sz="1863" spc="-37">
                <a:solidFill>
                  <a:srgbClr val="0F3260"/>
                </a:solidFill>
                <a:latin typeface="Inter"/>
                <a:ea typeface="Inter"/>
                <a:cs typeface="Inter"/>
                <a:sym typeface="Inter"/>
              </a:rPr>
              <a:t>Temporal sequence</a:t>
            </a:r>
          </a:p>
          <a:p>
            <a:pPr algn="l">
              <a:lnSpc>
                <a:spcPts val="2236"/>
              </a:lnSpc>
            </a:pPr>
            <a:r>
              <a:rPr lang="en-US" sz="1863" spc="-37">
                <a:solidFill>
                  <a:srgbClr val="0F3260"/>
                </a:solidFill>
                <a:latin typeface="Inter"/>
                <a:ea typeface="Inter"/>
                <a:cs typeface="Inter"/>
                <a:sym typeface="Inter"/>
              </a:rPr>
              <a:t>modelling with LSTM</a:t>
            </a:r>
          </a:p>
        </p:txBody>
      </p:sp>
      <p:sp>
        <p:nvSpPr>
          <p:cNvPr id="28" name="Freeform 28"/>
          <p:cNvSpPr/>
          <p:nvPr/>
        </p:nvSpPr>
        <p:spPr>
          <a:xfrm>
            <a:off x="1520354" y="6854356"/>
            <a:ext cx="6103292" cy="1082267"/>
          </a:xfrm>
          <a:custGeom>
            <a:avLst/>
            <a:gdLst/>
            <a:ahLst/>
            <a:cxnLst/>
            <a:rect l="l" t="t" r="r" b="b"/>
            <a:pathLst>
              <a:path w="6103292" h="1082267">
                <a:moveTo>
                  <a:pt x="0" y="0"/>
                </a:moveTo>
                <a:lnTo>
                  <a:pt x="6103292" y="0"/>
                </a:lnTo>
                <a:lnTo>
                  <a:pt x="6103292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</p:sp>
      <p:sp>
        <p:nvSpPr>
          <p:cNvPr id="29" name="Freeform 29"/>
          <p:cNvSpPr/>
          <p:nvPr/>
        </p:nvSpPr>
        <p:spPr>
          <a:xfrm>
            <a:off x="1957866" y="6854356"/>
            <a:ext cx="1531292" cy="1082267"/>
          </a:xfrm>
          <a:custGeom>
            <a:avLst/>
            <a:gdLst/>
            <a:ahLst/>
            <a:cxnLst/>
            <a:rect l="l" t="t" r="r" b="b"/>
            <a:pathLst>
              <a:path w="1531292" h="1082267">
                <a:moveTo>
                  <a:pt x="0" y="0"/>
                </a:moveTo>
                <a:lnTo>
                  <a:pt x="1531292" y="0"/>
                </a:lnTo>
                <a:lnTo>
                  <a:pt x="1531292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/>
            </a:stretch>
          </a:blipFill>
        </p:spPr>
      </p:sp>
      <p:sp>
        <p:nvSpPr>
          <p:cNvPr id="30" name="TextBox 30"/>
          <p:cNvSpPr txBox="1"/>
          <p:nvPr/>
        </p:nvSpPr>
        <p:spPr>
          <a:xfrm>
            <a:off x="3614090" y="7246164"/>
            <a:ext cx="2922218" cy="3127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45"/>
              </a:lnSpc>
            </a:pPr>
            <a:r>
              <a:rPr lang="en-US" sz="2223" b="1" spc="-44">
                <a:solidFill>
                  <a:srgbClr val="0F3260"/>
                </a:solidFill>
                <a:latin typeface="Inter Bold"/>
                <a:ea typeface="Inter Bold"/>
                <a:cs typeface="Inter Bold"/>
                <a:sym typeface="Inter Bold"/>
              </a:rPr>
              <a:t>Attention Mechanism</a:t>
            </a:r>
          </a:p>
        </p:txBody>
      </p:sp>
      <p:sp>
        <p:nvSpPr>
          <p:cNvPr id="31" name="Freeform 31"/>
          <p:cNvSpPr/>
          <p:nvPr/>
        </p:nvSpPr>
        <p:spPr>
          <a:xfrm>
            <a:off x="7393952" y="7280704"/>
            <a:ext cx="1750048" cy="229572"/>
          </a:xfrm>
          <a:custGeom>
            <a:avLst/>
            <a:gdLst/>
            <a:ahLst/>
            <a:cxnLst/>
            <a:rect l="l" t="t" r="r" b="b"/>
            <a:pathLst>
              <a:path w="1750048" h="229572">
                <a:moveTo>
                  <a:pt x="0" y="0"/>
                </a:moveTo>
                <a:lnTo>
                  <a:pt x="1750048" y="0"/>
                </a:lnTo>
                <a:lnTo>
                  <a:pt x="1750048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/>
            </a:stretch>
          </a:blipFill>
        </p:spPr>
      </p:sp>
      <p:sp>
        <p:nvSpPr>
          <p:cNvPr id="32" name="TextBox 32"/>
          <p:cNvSpPr txBox="1"/>
          <p:nvPr/>
        </p:nvSpPr>
        <p:spPr>
          <a:xfrm>
            <a:off x="9273760" y="7114237"/>
            <a:ext cx="2204481" cy="5354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6"/>
              </a:lnSpc>
            </a:pPr>
            <a:r>
              <a:rPr lang="en-US" sz="1863" spc="-37">
                <a:solidFill>
                  <a:srgbClr val="0F3260"/>
                </a:solidFill>
                <a:latin typeface="Inter"/>
                <a:ea typeface="Inter"/>
                <a:cs typeface="Inter"/>
                <a:sym typeface="Inter"/>
              </a:rPr>
              <a:t>Focuses on relevant</a:t>
            </a:r>
          </a:p>
          <a:p>
            <a:pPr algn="l">
              <a:lnSpc>
                <a:spcPts val="2236"/>
              </a:lnSpc>
            </a:pPr>
            <a:r>
              <a:rPr lang="en-US" sz="1863" spc="-37">
                <a:solidFill>
                  <a:srgbClr val="0F3260"/>
                </a:solidFill>
                <a:latin typeface="Inter"/>
                <a:ea typeface="Inter"/>
                <a:cs typeface="Inter"/>
                <a:sym typeface="Inter"/>
              </a:rPr>
              <a:t>time steps</a:t>
            </a:r>
          </a:p>
        </p:txBody>
      </p:sp>
      <p:sp>
        <p:nvSpPr>
          <p:cNvPr id="33" name="Freeform 33"/>
          <p:cNvSpPr/>
          <p:nvPr/>
        </p:nvSpPr>
        <p:spPr>
          <a:xfrm>
            <a:off x="1520354" y="7925691"/>
            <a:ext cx="6103292" cy="1082267"/>
          </a:xfrm>
          <a:custGeom>
            <a:avLst/>
            <a:gdLst/>
            <a:ahLst/>
            <a:cxnLst/>
            <a:rect l="l" t="t" r="r" b="b"/>
            <a:pathLst>
              <a:path w="6103292" h="1082267">
                <a:moveTo>
                  <a:pt x="0" y="0"/>
                </a:moveTo>
                <a:lnTo>
                  <a:pt x="6103292" y="0"/>
                </a:lnTo>
                <a:lnTo>
                  <a:pt x="6103292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/>
            </a:stretch>
          </a:blipFill>
        </p:spPr>
      </p:sp>
      <p:sp>
        <p:nvSpPr>
          <p:cNvPr id="34" name="Freeform 34"/>
          <p:cNvSpPr/>
          <p:nvPr/>
        </p:nvSpPr>
        <p:spPr>
          <a:xfrm>
            <a:off x="2384440" y="8133399"/>
            <a:ext cx="885962" cy="655919"/>
          </a:xfrm>
          <a:custGeom>
            <a:avLst/>
            <a:gdLst/>
            <a:ahLst/>
            <a:cxnLst/>
            <a:rect l="l" t="t" r="r" b="b"/>
            <a:pathLst>
              <a:path w="885962" h="655919">
                <a:moveTo>
                  <a:pt x="0" y="0"/>
                </a:moveTo>
                <a:lnTo>
                  <a:pt x="885962" y="0"/>
                </a:lnTo>
                <a:lnTo>
                  <a:pt x="885962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/>
            </a:stretch>
          </a:blipFill>
        </p:spPr>
      </p:sp>
      <p:sp>
        <p:nvSpPr>
          <p:cNvPr id="35" name="TextBox 35"/>
          <p:cNvSpPr txBox="1"/>
          <p:nvPr/>
        </p:nvSpPr>
        <p:spPr>
          <a:xfrm>
            <a:off x="3625182" y="8300423"/>
            <a:ext cx="1813016" cy="3127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45"/>
              </a:lnSpc>
            </a:pPr>
            <a:r>
              <a:rPr lang="en-US" sz="2223" b="1" spc="-44">
                <a:solidFill>
                  <a:srgbClr val="0F3260"/>
                </a:solidFill>
                <a:latin typeface="Inter Bold"/>
                <a:ea typeface="Inter Bold"/>
                <a:cs typeface="Inter Bold"/>
                <a:sym typeface="Inter Bold"/>
              </a:rPr>
              <a:t>Text Decoder</a:t>
            </a:r>
          </a:p>
        </p:txBody>
      </p:sp>
      <p:sp>
        <p:nvSpPr>
          <p:cNvPr id="36" name="Freeform 36"/>
          <p:cNvSpPr/>
          <p:nvPr/>
        </p:nvSpPr>
        <p:spPr>
          <a:xfrm>
            <a:off x="7393952" y="8352038"/>
            <a:ext cx="1750048" cy="229572"/>
          </a:xfrm>
          <a:custGeom>
            <a:avLst/>
            <a:gdLst/>
            <a:ahLst/>
            <a:cxnLst/>
            <a:rect l="l" t="t" r="r" b="b"/>
            <a:pathLst>
              <a:path w="1750048" h="229572">
                <a:moveTo>
                  <a:pt x="0" y="0"/>
                </a:moveTo>
                <a:lnTo>
                  <a:pt x="1750048" y="0"/>
                </a:lnTo>
                <a:lnTo>
                  <a:pt x="1750048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/>
            </a:stretch>
          </a:blipFill>
        </p:spPr>
      </p:sp>
      <p:sp>
        <p:nvSpPr>
          <p:cNvPr id="37" name="TextBox 37"/>
          <p:cNvSpPr txBox="1"/>
          <p:nvPr/>
        </p:nvSpPr>
        <p:spPr>
          <a:xfrm>
            <a:off x="9269805" y="8153435"/>
            <a:ext cx="2599995" cy="5354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6"/>
              </a:lnSpc>
            </a:pPr>
            <a:r>
              <a:rPr lang="en-US" sz="1863" spc="-37">
                <a:solidFill>
                  <a:srgbClr val="0F3260"/>
                </a:solidFill>
                <a:latin typeface="Inter"/>
                <a:ea typeface="Inter"/>
                <a:cs typeface="Inter"/>
                <a:sym typeface="Inter"/>
              </a:rPr>
              <a:t>Generates words based</a:t>
            </a:r>
          </a:p>
          <a:p>
            <a:pPr algn="l">
              <a:lnSpc>
                <a:spcPts val="2236"/>
              </a:lnSpc>
            </a:pPr>
            <a:r>
              <a:rPr lang="en-US" sz="1863" spc="-37">
                <a:solidFill>
                  <a:srgbClr val="0F3260"/>
                </a:solidFill>
                <a:latin typeface="Inter"/>
                <a:ea typeface="Inter"/>
                <a:cs typeface="Inter"/>
                <a:sym typeface="Inter"/>
              </a:rPr>
              <a:t>on attended context</a:t>
            </a:r>
          </a:p>
        </p:txBody>
      </p:sp>
      <p:sp>
        <p:nvSpPr>
          <p:cNvPr id="38" name="Freeform 38"/>
          <p:cNvSpPr/>
          <p:nvPr/>
        </p:nvSpPr>
        <p:spPr>
          <a:xfrm>
            <a:off x="1520354" y="8997026"/>
            <a:ext cx="6103292" cy="1082267"/>
          </a:xfrm>
          <a:custGeom>
            <a:avLst/>
            <a:gdLst/>
            <a:ahLst/>
            <a:cxnLst/>
            <a:rect l="l" t="t" r="r" b="b"/>
            <a:pathLst>
              <a:path w="6103292" h="1082267">
                <a:moveTo>
                  <a:pt x="0" y="0"/>
                </a:moveTo>
                <a:lnTo>
                  <a:pt x="6103292" y="0"/>
                </a:lnTo>
                <a:lnTo>
                  <a:pt x="6103292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/>
            </a:stretch>
          </a:blipFill>
        </p:spPr>
      </p:sp>
      <p:sp>
        <p:nvSpPr>
          <p:cNvPr id="39" name="Freeform 39"/>
          <p:cNvSpPr/>
          <p:nvPr/>
        </p:nvSpPr>
        <p:spPr>
          <a:xfrm>
            <a:off x="2384440" y="8997026"/>
            <a:ext cx="885962" cy="863627"/>
          </a:xfrm>
          <a:custGeom>
            <a:avLst/>
            <a:gdLst/>
            <a:ahLst/>
            <a:cxnLst/>
            <a:rect l="l" t="t" r="r" b="b"/>
            <a:pathLst>
              <a:path w="885962" h="863627">
                <a:moveTo>
                  <a:pt x="0" y="0"/>
                </a:moveTo>
                <a:lnTo>
                  <a:pt x="885962" y="0"/>
                </a:lnTo>
                <a:lnTo>
                  <a:pt x="885962" y="863626"/>
                </a:lnTo>
                <a:lnTo>
                  <a:pt x="0" y="863626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/>
            </a:stretch>
          </a:blipFill>
        </p:spPr>
      </p:sp>
      <p:sp>
        <p:nvSpPr>
          <p:cNvPr id="40" name="TextBox 40"/>
          <p:cNvSpPr txBox="1"/>
          <p:nvPr/>
        </p:nvSpPr>
        <p:spPr>
          <a:xfrm>
            <a:off x="3615713" y="9324561"/>
            <a:ext cx="2759941" cy="3127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45"/>
              </a:lnSpc>
            </a:pPr>
            <a:r>
              <a:rPr lang="en-US" sz="2223" b="1" spc="-44">
                <a:solidFill>
                  <a:srgbClr val="F6F6F6"/>
                </a:solidFill>
                <a:latin typeface="Inter Bold"/>
                <a:ea typeface="Inter Bold"/>
                <a:cs typeface="Inter Bold"/>
                <a:sym typeface="Inter Bold"/>
              </a:rPr>
              <a:t>Generated Sentence</a:t>
            </a:r>
          </a:p>
        </p:txBody>
      </p:sp>
      <p:sp>
        <p:nvSpPr>
          <p:cNvPr id="41" name="Freeform 41"/>
          <p:cNvSpPr/>
          <p:nvPr/>
        </p:nvSpPr>
        <p:spPr>
          <a:xfrm>
            <a:off x="7393952" y="9423373"/>
            <a:ext cx="1750048" cy="229572"/>
          </a:xfrm>
          <a:custGeom>
            <a:avLst/>
            <a:gdLst/>
            <a:ahLst/>
            <a:cxnLst/>
            <a:rect l="l" t="t" r="r" b="b"/>
            <a:pathLst>
              <a:path w="1750048" h="229572">
                <a:moveTo>
                  <a:pt x="0" y="0"/>
                </a:moveTo>
                <a:lnTo>
                  <a:pt x="1750048" y="0"/>
                </a:lnTo>
                <a:lnTo>
                  <a:pt x="1750048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>
              <a:fillRect/>
            </a:stretch>
          </a:blipFill>
        </p:spPr>
      </p:sp>
      <p:sp>
        <p:nvSpPr>
          <p:cNvPr id="42" name="TextBox 42"/>
          <p:cNvSpPr txBox="1"/>
          <p:nvPr/>
        </p:nvSpPr>
        <p:spPr>
          <a:xfrm>
            <a:off x="9277825" y="9192633"/>
            <a:ext cx="1798007" cy="5354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6"/>
              </a:lnSpc>
            </a:pPr>
            <a:r>
              <a:rPr lang="en-US" sz="1863" spc="-37">
                <a:solidFill>
                  <a:srgbClr val="0F3260"/>
                </a:solidFill>
                <a:latin typeface="Inter"/>
                <a:ea typeface="Inter"/>
                <a:cs typeface="Inter"/>
                <a:sym typeface="Inter"/>
              </a:rPr>
              <a:t>Final recognized</a:t>
            </a:r>
          </a:p>
          <a:p>
            <a:pPr algn="l">
              <a:lnSpc>
                <a:spcPts val="2236"/>
              </a:lnSpc>
            </a:pPr>
            <a:r>
              <a:rPr lang="en-US" sz="1863" spc="-37">
                <a:solidFill>
                  <a:srgbClr val="0F3260"/>
                </a:solidFill>
                <a:latin typeface="Inter"/>
                <a:ea typeface="Inter"/>
                <a:cs typeface="Inter"/>
                <a:sym typeface="Inter"/>
              </a:rPr>
              <a:t>sentence output</a:t>
            </a:r>
          </a:p>
        </p:txBody>
      </p:sp>
      <p:sp>
        <p:nvSpPr>
          <p:cNvPr id="43" name="Freeform 43"/>
          <p:cNvSpPr/>
          <p:nvPr/>
        </p:nvSpPr>
        <p:spPr>
          <a:xfrm>
            <a:off x="4572000" y="3421712"/>
            <a:ext cx="437512" cy="437279"/>
          </a:xfrm>
          <a:custGeom>
            <a:avLst/>
            <a:gdLst/>
            <a:ahLst/>
            <a:cxnLst/>
            <a:rect l="l" t="t" r="r" b="b"/>
            <a:pathLst>
              <a:path w="437512" h="437279">
                <a:moveTo>
                  <a:pt x="0" y="0"/>
                </a:moveTo>
                <a:lnTo>
                  <a:pt x="437512" y="0"/>
                </a:lnTo>
                <a:lnTo>
                  <a:pt x="437512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>
              <a:fillRect/>
            </a:stretch>
          </a:blipFill>
        </p:spPr>
      </p:sp>
      <p:sp>
        <p:nvSpPr>
          <p:cNvPr id="44" name="Freeform 44"/>
          <p:cNvSpPr/>
          <p:nvPr/>
        </p:nvSpPr>
        <p:spPr>
          <a:xfrm>
            <a:off x="4572000" y="4493047"/>
            <a:ext cx="437512" cy="437279"/>
          </a:xfrm>
          <a:custGeom>
            <a:avLst/>
            <a:gdLst/>
            <a:ahLst/>
            <a:cxnLst/>
            <a:rect l="l" t="t" r="r" b="b"/>
            <a:pathLst>
              <a:path w="437512" h="437279">
                <a:moveTo>
                  <a:pt x="0" y="0"/>
                </a:moveTo>
                <a:lnTo>
                  <a:pt x="437512" y="0"/>
                </a:lnTo>
                <a:lnTo>
                  <a:pt x="437512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>
              <a:fillRect/>
            </a:stretch>
          </a:blipFill>
        </p:spPr>
      </p:sp>
      <p:sp>
        <p:nvSpPr>
          <p:cNvPr id="45" name="Freeform 45"/>
          <p:cNvSpPr/>
          <p:nvPr/>
        </p:nvSpPr>
        <p:spPr>
          <a:xfrm>
            <a:off x="4572000" y="5564382"/>
            <a:ext cx="437512" cy="437279"/>
          </a:xfrm>
          <a:custGeom>
            <a:avLst/>
            <a:gdLst/>
            <a:ahLst/>
            <a:cxnLst/>
            <a:rect l="l" t="t" r="r" b="b"/>
            <a:pathLst>
              <a:path w="437512" h="437279">
                <a:moveTo>
                  <a:pt x="0" y="0"/>
                </a:moveTo>
                <a:lnTo>
                  <a:pt x="437512" y="0"/>
                </a:lnTo>
                <a:lnTo>
                  <a:pt x="437512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>
              <a:fillRect/>
            </a:stretch>
          </a:blipFill>
        </p:spPr>
      </p:sp>
      <p:sp>
        <p:nvSpPr>
          <p:cNvPr id="46" name="Freeform 46"/>
          <p:cNvSpPr/>
          <p:nvPr/>
        </p:nvSpPr>
        <p:spPr>
          <a:xfrm>
            <a:off x="4572000" y="6635716"/>
            <a:ext cx="437512" cy="437279"/>
          </a:xfrm>
          <a:custGeom>
            <a:avLst/>
            <a:gdLst/>
            <a:ahLst/>
            <a:cxnLst/>
            <a:rect l="l" t="t" r="r" b="b"/>
            <a:pathLst>
              <a:path w="437512" h="437279">
                <a:moveTo>
                  <a:pt x="0" y="0"/>
                </a:moveTo>
                <a:lnTo>
                  <a:pt x="437512" y="0"/>
                </a:lnTo>
                <a:lnTo>
                  <a:pt x="437512" y="437280"/>
                </a:lnTo>
                <a:lnTo>
                  <a:pt x="0" y="437280"/>
                </a:lnTo>
                <a:lnTo>
                  <a:pt x="0" y="0"/>
                </a:lnTo>
                <a:close/>
              </a:path>
            </a:pathLst>
          </a:custGeom>
          <a:blipFill>
            <a:blip r:embed="rId30"/>
            <a:stretch>
              <a:fillRect/>
            </a:stretch>
          </a:blipFill>
        </p:spPr>
      </p:sp>
      <p:sp>
        <p:nvSpPr>
          <p:cNvPr id="47" name="Freeform 47"/>
          <p:cNvSpPr/>
          <p:nvPr/>
        </p:nvSpPr>
        <p:spPr>
          <a:xfrm>
            <a:off x="4572000" y="7707051"/>
            <a:ext cx="437512" cy="437279"/>
          </a:xfrm>
          <a:custGeom>
            <a:avLst/>
            <a:gdLst/>
            <a:ahLst/>
            <a:cxnLst/>
            <a:rect l="l" t="t" r="r" b="b"/>
            <a:pathLst>
              <a:path w="437512" h="437279">
                <a:moveTo>
                  <a:pt x="0" y="0"/>
                </a:moveTo>
                <a:lnTo>
                  <a:pt x="437512" y="0"/>
                </a:lnTo>
                <a:lnTo>
                  <a:pt x="437512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>
              <a:fillRect/>
            </a:stretch>
          </a:blipFill>
        </p:spPr>
      </p:sp>
      <p:sp>
        <p:nvSpPr>
          <p:cNvPr id="48" name="Freeform 48"/>
          <p:cNvSpPr/>
          <p:nvPr/>
        </p:nvSpPr>
        <p:spPr>
          <a:xfrm>
            <a:off x="4572000" y="8778386"/>
            <a:ext cx="437512" cy="437279"/>
          </a:xfrm>
          <a:custGeom>
            <a:avLst/>
            <a:gdLst/>
            <a:ahLst/>
            <a:cxnLst/>
            <a:rect l="l" t="t" r="r" b="b"/>
            <a:pathLst>
              <a:path w="437512" h="437279">
                <a:moveTo>
                  <a:pt x="0" y="0"/>
                </a:moveTo>
                <a:lnTo>
                  <a:pt x="437512" y="0"/>
                </a:lnTo>
                <a:lnTo>
                  <a:pt x="437512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32"/>
            <a:stretch>
              <a:fillRect/>
            </a:stretch>
          </a:blip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5466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4580086" y="0"/>
            <a:ext cx="3707914" cy="2361309"/>
          </a:xfrm>
          <a:custGeom>
            <a:avLst/>
            <a:gdLst/>
            <a:ahLst/>
            <a:cxnLst/>
            <a:rect l="l" t="t" r="r" b="b"/>
            <a:pathLst>
              <a:path w="3707914" h="2361309">
                <a:moveTo>
                  <a:pt x="0" y="0"/>
                </a:moveTo>
                <a:lnTo>
                  <a:pt x="3707914" y="0"/>
                </a:lnTo>
                <a:lnTo>
                  <a:pt x="3707914" y="2361309"/>
                </a:lnTo>
                <a:lnTo>
                  <a:pt x="0" y="236130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654963" y="759685"/>
            <a:ext cx="9513049" cy="906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45"/>
              </a:lnSpc>
            </a:pPr>
            <a:r>
              <a:rPr lang="en-US" sz="6845" b="1" spc="-137">
                <a:solidFill>
                  <a:srgbClr val="0A1A42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Training and Evaluation</a:t>
            </a:r>
          </a:p>
        </p:txBody>
      </p:sp>
      <p:sp>
        <p:nvSpPr>
          <p:cNvPr id="5" name="Freeform 5"/>
          <p:cNvSpPr/>
          <p:nvPr/>
        </p:nvSpPr>
        <p:spPr>
          <a:xfrm>
            <a:off x="645330" y="2142670"/>
            <a:ext cx="10467474" cy="5367606"/>
          </a:xfrm>
          <a:custGeom>
            <a:avLst/>
            <a:gdLst/>
            <a:ahLst/>
            <a:cxnLst/>
            <a:rect l="l" t="t" r="r" b="b"/>
            <a:pathLst>
              <a:path w="10467474" h="5367606">
                <a:moveTo>
                  <a:pt x="0" y="0"/>
                </a:moveTo>
                <a:lnTo>
                  <a:pt x="10467474" y="0"/>
                </a:lnTo>
                <a:lnTo>
                  <a:pt x="10467474" y="5367605"/>
                </a:lnTo>
                <a:lnTo>
                  <a:pt x="0" y="53676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140048" y="2572170"/>
            <a:ext cx="2895552" cy="327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43"/>
              </a:lnSpc>
            </a:pPr>
            <a:r>
              <a:rPr lang="en-US" sz="2443" b="1" spc="-97">
                <a:solidFill>
                  <a:srgbClr val="723FCA"/>
                </a:solidFill>
                <a:latin typeface="Inter Bold"/>
                <a:ea typeface="Inter Bold"/>
                <a:cs typeface="Inter Bold"/>
                <a:sym typeface="Inter Bold"/>
              </a:rPr>
              <a:t>TRAINING PROCESS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323575" y="3673390"/>
            <a:ext cx="856859" cy="2982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90"/>
              </a:lnSpc>
            </a:pPr>
            <a:r>
              <a:rPr lang="en-US" sz="1916" b="1" spc="-76">
                <a:solidFill>
                  <a:srgbClr val="0A1A42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Dataset</a:t>
            </a:r>
          </a:p>
        </p:txBody>
      </p:sp>
      <p:sp>
        <p:nvSpPr>
          <p:cNvPr id="8" name="Freeform 8"/>
          <p:cNvSpPr/>
          <p:nvPr/>
        </p:nvSpPr>
        <p:spPr>
          <a:xfrm>
            <a:off x="864086" y="4066699"/>
            <a:ext cx="1750048" cy="2579949"/>
          </a:xfrm>
          <a:custGeom>
            <a:avLst/>
            <a:gdLst/>
            <a:ahLst/>
            <a:cxnLst/>
            <a:rect l="l" t="t" r="r" b="b"/>
            <a:pathLst>
              <a:path w="1750048" h="2579949">
                <a:moveTo>
                  <a:pt x="0" y="0"/>
                </a:moveTo>
                <a:lnTo>
                  <a:pt x="1750048" y="0"/>
                </a:lnTo>
                <a:lnTo>
                  <a:pt x="1750048" y="2579949"/>
                </a:lnTo>
                <a:lnTo>
                  <a:pt x="0" y="25799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3027337" y="3673390"/>
            <a:ext cx="1615571" cy="2982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90"/>
              </a:lnSpc>
            </a:pPr>
            <a:r>
              <a:rPr lang="en-US" sz="1916" b="1" spc="-76">
                <a:solidFill>
                  <a:srgbClr val="0A1A42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Preprocessing</a:t>
            </a:r>
          </a:p>
        </p:txBody>
      </p:sp>
      <p:sp>
        <p:nvSpPr>
          <p:cNvPr id="10" name="Freeform 10"/>
          <p:cNvSpPr/>
          <p:nvPr/>
        </p:nvSpPr>
        <p:spPr>
          <a:xfrm>
            <a:off x="3040708" y="4066699"/>
            <a:ext cx="1531292" cy="2579949"/>
          </a:xfrm>
          <a:custGeom>
            <a:avLst/>
            <a:gdLst/>
            <a:ahLst/>
            <a:cxnLst/>
            <a:rect l="l" t="t" r="r" b="b"/>
            <a:pathLst>
              <a:path w="1531292" h="2579949">
                <a:moveTo>
                  <a:pt x="0" y="0"/>
                </a:moveTo>
                <a:lnTo>
                  <a:pt x="1531292" y="0"/>
                </a:lnTo>
                <a:lnTo>
                  <a:pt x="1531292" y="2579949"/>
                </a:lnTo>
                <a:lnTo>
                  <a:pt x="0" y="257994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5459323" y="3673390"/>
            <a:ext cx="913011" cy="2982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90"/>
              </a:lnSpc>
            </a:pPr>
            <a:r>
              <a:rPr lang="en-US" sz="1916" b="1" spc="-76">
                <a:solidFill>
                  <a:srgbClr val="0A1A42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Training</a:t>
            </a:r>
          </a:p>
        </p:txBody>
      </p:sp>
      <p:sp>
        <p:nvSpPr>
          <p:cNvPr id="12" name="Freeform 12"/>
          <p:cNvSpPr/>
          <p:nvPr/>
        </p:nvSpPr>
        <p:spPr>
          <a:xfrm>
            <a:off x="4998574" y="4066699"/>
            <a:ext cx="1760986" cy="2579949"/>
          </a:xfrm>
          <a:custGeom>
            <a:avLst/>
            <a:gdLst/>
            <a:ahLst/>
            <a:cxnLst/>
            <a:rect l="l" t="t" r="r" b="b"/>
            <a:pathLst>
              <a:path w="1760986" h="2579949">
                <a:moveTo>
                  <a:pt x="0" y="0"/>
                </a:moveTo>
                <a:lnTo>
                  <a:pt x="1760986" y="0"/>
                </a:lnTo>
                <a:lnTo>
                  <a:pt x="1760986" y="2579949"/>
                </a:lnTo>
                <a:lnTo>
                  <a:pt x="0" y="257994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7437282" y="3673390"/>
            <a:ext cx="1106719" cy="2982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90"/>
              </a:lnSpc>
            </a:pPr>
            <a:r>
              <a:rPr lang="en-US" sz="1916" b="1" spc="-76">
                <a:solidFill>
                  <a:srgbClr val="0A1A42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Validation</a:t>
            </a:r>
          </a:p>
        </p:txBody>
      </p:sp>
      <p:sp>
        <p:nvSpPr>
          <p:cNvPr id="14" name="Freeform 14"/>
          <p:cNvSpPr/>
          <p:nvPr/>
        </p:nvSpPr>
        <p:spPr>
          <a:xfrm>
            <a:off x="7175196" y="4066699"/>
            <a:ext cx="1542230" cy="2579949"/>
          </a:xfrm>
          <a:custGeom>
            <a:avLst/>
            <a:gdLst/>
            <a:ahLst/>
            <a:cxnLst/>
            <a:rect l="l" t="t" r="r" b="b"/>
            <a:pathLst>
              <a:path w="1542230" h="2579949">
                <a:moveTo>
                  <a:pt x="0" y="0"/>
                </a:moveTo>
                <a:lnTo>
                  <a:pt x="1542230" y="0"/>
                </a:lnTo>
                <a:lnTo>
                  <a:pt x="1542230" y="2579949"/>
                </a:lnTo>
                <a:lnTo>
                  <a:pt x="0" y="257994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9346707" y="3673390"/>
            <a:ext cx="1356591" cy="2982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90"/>
              </a:lnSpc>
            </a:pPr>
            <a:r>
              <a:rPr lang="en-US" sz="1916" b="1" spc="-76">
                <a:solidFill>
                  <a:srgbClr val="0A1A42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Fine-Tuning</a:t>
            </a:r>
          </a:p>
        </p:txBody>
      </p:sp>
      <p:sp>
        <p:nvSpPr>
          <p:cNvPr id="16" name="Freeform 16"/>
          <p:cNvSpPr/>
          <p:nvPr/>
        </p:nvSpPr>
        <p:spPr>
          <a:xfrm>
            <a:off x="9144000" y="4066699"/>
            <a:ext cx="1750048" cy="2579949"/>
          </a:xfrm>
          <a:custGeom>
            <a:avLst/>
            <a:gdLst/>
            <a:ahLst/>
            <a:cxnLst/>
            <a:rect l="l" t="t" r="r" b="b"/>
            <a:pathLst>
              <a:path w="1750048" h="2579949">
                <a:moveTo>
                  <a:pt x="0" y="0"/>
                </a:moveTo>
                <a:lnTo>
                  <a:pt x="1750048" y="0"/>
                </a:lnTo>
                <a:lnTo>
                  <a:pt x="1750048" y="2579949"/>
                </a:lnTo>
                <a:lnTo>
                  <a:pt x="0" y="257994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2384440" y="5138034"/>
            <a:ext cx="667206" cy="437279"/>
          </a:xfrm>
          <a:custGeom>
            <a:avLst/>
            <a:gdLst/>
            <a:ahLst/>
            <a:cxnLst/>
            <a:rect l="l" t="t" r="r" b="b"/>
            <a:pathLst>
              <a:path w="667206" h="437279">
                <a:moveTo>
                  <a:pt x="0" y="0"/>
                </a:moveTo>
                <a:lnTo>
                  <a:pt x="667206" y="0"/>
                </a:lnTo>
                <a:lnTo>
                  <a:pt x="667206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4572000" y="5138034"/>
            <a:ext cx="656268" cy="437279"/>
          </a:xfrm>
          <a:custGeom>
            <a:avLst/>
            <a:gdLst/>
            <a:ahLst/>
            <a:cxnLst/>
            <a:rect l="l" t="t" r="r" b="b"/>
            <a:pathLst>
              <a:path w="656268" h="437279">
                <a:moveTo>
                  <a:pt x="0" y="0"/>
                </a:moveTo>
                <a:lnTo>
                  <a:pt x="656268" y="0"/>
                </a:lnTo>
                <a:lnTo>
                  <a:pt x="656268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6529866" y="5138034"/>
            <a:ext cx="656268" cy="437279"/>
          </a:xfrm>
          <a:custGeom>
            <a:avLst/>
            <a:gdLst/>
            <a:ahLst/>
            <a:cxnLst/>
            <a:rect l="l" t="t" r="r" b="b"/>
            <a:pathLst>
              <a:path w="656268" h="437279">
                <a:moveTo>
                  <a:pt x="0" y="0"/>
                </a:moveTo>
                <a:lnTo>
                  <a:pt x="656268" y="0"/>
                </a:lnTo>
                <a:lnTo>
                  <a:pt x="656268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8706488" y="5138034"/>
            <a:ext cx="656268" cy="437279"/>
          </a:xfrm>
          <a:custGeom>
            <a:avLst/>
            <a:gdLst/>
            <a:ahLst/>
            <a:cxnLst/>
            <a:rect l="l" t="t" r="r" b="b"/>
            <a:pathLst>
              <a:path w="656268" h="437279">
                <a:moveTo>
                  <a:pt x="0" y="0"/>
                </a:moveTo>
                <a:lnTo>
                  <a:pt x="656268" y="0"/>
                </a:lnTo>
                <a:lnTo>
                  <a:pt x="656268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11320622" y="2142670"/>
            <a:ext cx="6322048" cy="5367606"/>
          </a:xfrm>
          <a:custGeom>
            <a:avLst/>
            <a:gdLst/>
            <a:ahLst/>
            <a:cxnLst/>
            <a:rect l="l" t="t" r="r" b="b"/>
            <a:pathLst>
              <a:path w="6322048" h="5367606">
                <a:moveTo>
                  <a:pt x="0" y="0"/>
                </a:moveTo>
                <a:lnTo>
                  <a:pt x="6322048" y="0"/>
                </a:lnTo>
                <a:lnTo>
                  <a:pt x="6322048" y="5367605"/>
                </a:lnTo>
                <a:lnTo>
                  <a:pt x="0" y="536760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11672068" y="2582253"/>
            <a:ext cx="3309910" cy="316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99"/>
              </a:lnSpc>
            </a:pPr>
            <a:r>
              <a:rPr lang="en-US" sz="2399" b="1" spc="-96">
                <a:solidFill>
                  <a:srgbClr val="16A2B2"/>
                </a:solidFill>
                <a:latin typeface="Inter Bold"/>
                <a:ea typeface="Inter Bold"/>
                <a:cs typeface="Inter Bold"/>
                <a:sym typeface="Inter Bold"/>
              </a:rPr>
              <a:t>EVALUATION METRICS</a:t>
            </a:r>
          </a:p>
        </p:txBody>
      </p:sp>
      <p:sp>
        <p:nvSpPr>
          <p:cNvPr id="23" name="Freeform 23"/>
          <p:cNvSpPr/>
          <p:nvPr/>
        </p:nvSpPr>
        <p:spPr>
          <a:xfrm>
            <a:off x="11528440" y="3421712"/>
            <a:ext cx="1979742" cy="1945894"/>
          </a:xfrm>
          <a:custGeom>
            <a:avLst/>
            <a:gdLst/>
            <a:ahLst/>
            <a:cxnLst/>
            <a:rect l="l" t="t" r="r" b="b"/>
            <a:pathLst>
              <a:path w="1979742" h="1945894">
                <a:moveTo>
                  <a:pt x="0" y="0"/>
                </a:moveTo>
                <a:lnTo>
                  <a:pt x="1979742" y="0"/>
                </a:lnTo>
                <a:lnTo>
                  <a:pt x="1979742" y="1945894"/>
                </a:lnTo>
                <a:lnTo>
                  <a:pt x="0" y="1945894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</p:sp>
      <p:sp>
        <p:nvSpPr>
          <p:cNvPr id="24" name="TextBox 24"/>
          <p:cNvSpPr txBox="1"/>
          <p:nvPr/>
        </p:nvSpPr>
        <p:spPr>
          <a:xfrm>
            <a:off x="11946431" y="4259572"/>
            <a:ext cx="1193488" cy="3240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0"/>
              </a:lnSpc>
            </a:pPr>
            <a:r>
              <a:rPr lang="en-US" sz="2039" b="1" spc="-81">
                <a:solidFill>
                  <a:srgbClr val="16A2B2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Accuracy</a:t>
            </a:r>
          </a:p>
        </p:txBody>
      </p:sp>
      <p:sp>
        <p:nvSpPr>
          <p:cNvPr id="25" name="Freeform 25"/>
          <p:cNvSpPr/>
          <p:nvPr/>
        </p:nvSpPr>
        <p:spPr>
          <a:xfrm>
            <a:off x="13497244" y="3421712"/>
            <a:ext cx="1968804" cy="1945894"/>
          </a:xfrm>
          <a:custGeom>
            <a:avLst/>
            <a:gdLst/>
            <a:ahLst/>
            <a:cxnLst/>
            <a:rect l="l" t="t" r="r" b="b"/>
            <a:pathLst>
              <a:path w="1968804" h="1945894">
                <a:moveTo>
                  <a:pt x="0" y="0"/>
                </a:moveTo>
                <a:lnTo>
                  <a:pt x="1968804" y="0"/>
                </a:lnTo>
                <a:lnTo>
                  <a:pt x="1968804" y="1945894"/>
                </a:lnTo>
                <a:lnTo>
                  <a:pt x="0" y="1945894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</p:sp>
      <p:sp>
        <p:nvSpPr>
          <p:cNvPr id="26" name="TextBox 26"/>
          <p:cNvSpPr txBox="1"/>
          <p:nvPr/>
        </p:nvSpPr>
        <p:spPr>
          <a:xfrm>
            <a:off x="13914763" y="4259572"/>
            <a:ext cx="1142846" cy="3240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0"/>
              </a:lnSpc>
            </a:pPr>
            <a:r>
              <a:rPr lang="en-US" sz="2039" b="1" spc="-81">
                <a:solidFill>
                  <a:srgbClr val="16A2B2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Precision</a:t>
            </a:r>
          </a:p>
        </p:txBody>
      </p:sp>
      <p:sp>
        <p:nvSpPr>
          <p:cNvPr id="27" name="Freeform 27"/>
          <p:cNvSpPr/>
          <p:nvPr/>
        </p:nvSpPr>
        <p:spPr>
          <a:xfrm>
            <a:off x="15455110" y="3421712"/>
            <a:ext cx="1968804" cy="1945894"/>
          </a:xfrm>
          <a:custGeom>
            <a:avLst/>
            <a:gdLst/>
            <a:ahLst/>
            <a:cxnLst/>
            <a:rect l="l" t="t" r="r" b="b"/>
            <a:pathLst>
              <a:path w="1968804" h="1945894">
                <a:moveTo>
                  <a:pt x="0" y="0"/>
                </a:moveTo>
                <a:lnTo>
                  <a:pt x="1968804" y="0"/>
                </a:lnTo>
                <a:lnTo>
                  <a:pt x="1968804" y="1945894"/>
                </a:lnTo>
                <a:lnTo>
                  <a:pt x="0" y="1945894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11528440" y="5356674"/>
            <a:ext cx="2843828" cy="1716322"/>
          </a:xfrm>
          <a:custGeom>
            <a:avLst/>
            <a:gdLst/>
            <a:ahLst/>
            <a:cxnLst/>
            <a:rect l="l" t="t" r="r" b="b"/>
            <a:pathLst>
              <a:path w="2843828" h="1716322">
                <a:moveTo>
                  <a:pt x="0" y="0"/>
                </a:moveTo>
                <a:lnTo>
                  <a:pt x="2843828" y="0"/>
                </a:lnTo>
                <a:lnTo>
                  <a:pt x="2843828" y="1716322"/>
                </a:lnTo>
                <a:lnTo>
                  <a:pt x="0" y="1716322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</p:sp>
      <p:sp>
        <p:nvSpPr>
          <p:cNvPr id="29" name="TextBox 29"/>
          <p:cNvSpPr txBox="1"/>
          <p:nvPr/>
        </p:nvSpPr>
        <p:spPr>
          <a:xfrm>
            <a:off x="12419968" y="6127116"/>
            <a:ext cx="1101520" cy="3240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0"/>
              </a:lnSpc>
            </a:pPr>
            <a:r>
              <a:rPr lang="en-US" sz="2039" b="1" spc="-81">
                <a:solidFill>
                  <a:srgbClr val="16A2B2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F1-Score</a:t>
            </a:r>
          </a:p>
        </p:txBody>
      </p:sp>
      <p:sp>
        <p:nvSpPr>
          <p:cNvPr id="30" name="Freeform 30"/>
          <p:cNvSpPr/>
          <p:nvPr/>
        </p:nvSpPr>
        <p:spPr>
          <a:xfrm>
            <a:off x="14361330" y="5356674"/>
            <a:ext cx="3062584" cy="1716322"/>
          </a:xfrm>
          <a:custGeom>
            <a:avLst/>
            <a:gdLst/>
            <a:ahLst/>
            <a:cxnLst/>
            <a:rect l="l" t="t" r="r" b="b"/>
            <a:pathLst>
              <a:path w="3062584" h="1716322">
                <a:moveTo>
                  <a:pt x="0" y="0"/>
                </a:moveTo>
                <a:lnTo>
                  <a:pt x="3062584" y="0"/>
                </a:lnTo>
                <a:lnTo>
                  <a:pt x="3062584" y="1716322"/>
                </a:lnTo>
                <a:lnTo>
                  <a:pt x="0" y="1716322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/>
            </a:stretch>
          </a:blipFill>
        </p:spPr>
      </p:sp>
      <p:sp>
        <p:nvSpPr>
          <p:cNvPr id="31" name="TextBox 31"/>
          <p:cNvSpPr txBox="1"/>
          <p:nvPr/>
        </p:nvSpPr>
        <p:spPr>
          <a:xfrm>
            <a:off x="14772637" y="6127116"/>
            <a:ext cx="2118325" cy="3240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0"/>
              </a:lnSpc>
            </a:pPr>
            <a:r>
              <a:rPr lang="en-US" sz="2039" b="1" spc="-81">
                <a:solidFill>
                  <a:srgbClr val="16A2B2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Confusion Matrix</a:t>
            </a:r>
          </a:p>
        </p:txBody>
      </p:sp>
      <p:sp>
        <p:nvSpPr>
          <p:cNvPr id="32" name="Freeform 32"/>
          <p:cNvSpPr/>
          <p:nvPr/>
        </p:nvSpPr>
        <p:spPr>
          <a:xfrm>
            <a:off x="645330" y="7707051"/>
            <a:ext cx="16997340" cy="1727254"/>
          </a:xfrm>
          <a:custGeom>
            <a:avLst/>
            <a:gdLst/>
            <a:ahLst/>
            <a:cxnLst/>
            <a:rect l="l" t="t" r="r" b="b"/>
            <a:pathLst>
              <a:path w="16997340" h="1727254">
                <a:moveTo>
                  <a:pt x="0" y="0"/>
                </a:moveTo>
                <a:lnTo>
                  <a:pt x="16997340" y="0"/>
                </a:lnTo>
                <a:lnTo>
                  <a:pt x="16997340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/>
            </a:stretch>
          </a:blipFill>
        </p:spPr>
      </p:sp>
      <p:sp>
        <p:nvSpPr>
          <p:cNvPr id="33" name="TextBox 33"/>
          <p:cNvSpPr txBox="1"/>
          <p:nvPr/>
        </p:nvSpPr>
        <p:spPr>
          <a:xfrm>
            <a:off x="1520840" y="8227315"/>
            <a:ext cx="2385248" cy="748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55"/>
              </a:lnSpc>
            </a:pPr>
            <a:r>
              <a:rPr lang="en-US" sz="2351" b="1" spc="-94" dirty="0">
                <a:solidFill>
                  <a:srgbClr val="0A1A42">
                    <a:alpha val="89804"/>
                  </a:srgbClr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Cross-entropy</a:t>
            </a:r>
          </a:p>
          <a:p>
            <a:pPr algn="ctr">
              <a:lnSpc>
                <a:spcPts val="3055"/>
              </a:lnSpc>
            </a:pPr>
            <a:r>
              <a:rPr lang="en-US" sz="2351" b="1" spc="-94" dirty="0">
                <a:solidFill>
                  <a:srgbClr val="0A1A42">
                    <a:alpha val="89804"/>
                  </a:srgbClr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classification loss</a:t>
            </a:r>
          </a:p>
        </p:txBody>
      </p:sp>
      <p:sp>
        <p:nvSpPr>
          <p:cNvPr id="34" name="Freeform 34"/>
          <p:cNvSpPr/>
          <p:nvPr/>
        </p:nvSpPr>
        <p:spPr>
          <a:xfrm>
            <a:off x="4572000" y="8133399"/>
            <a:ext cx="218756" cy="1082267"/>
          </a:xfrm>
          <a:custGeom>
            <a:avLst/>
            <a:gdLst/>
            <a:ahLst/>
            <a:cxnLst/>
            <a:rect l="l" t="t" r="r" b="b"/>
            <a:pathLst>
              <a:path w="218756" h="1082267">
                <a:moveTo>
                  <a:pt x="0" y="0"/>
                </a:moveTo>
                <a:lnTo>
                  <a:pt x="218756" y="0"/>
                </a:lnTo>
                <a:lnTo>
                  <a:pt x="218756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/>
            </a:stretch>
          </a:blipFill>
        </p:spPr>
      </p:sp>
      <p:sp>
        <p:nvSpPr>
          <p:cNvPr id="35" name="TextBox 35"/>
          <p:cNvSpPr txBox="1"/>
          <p:nvPr/>
        </p:nvSpPr>
        <p:spPr>
          <a:xfrm>
            <a:off x="5604473" y="8227315"/>
            <a:ext cx="1274757" cy="748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55"/>
              </a:lnSpc>
            </a:pPr>
            <a:r>
              <a:rPr lang="en-US" sz="2351" b="1" spc="-94">
                <a:solidFill>
                  <a:srgbClr val="0A1A42">
                    <a:alpha val="89804"/>
                  </a:srgbClr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Adam</a:t>
            </a:r>
          </a:p>
          <a:p>
            <a:pPr algn="ctr">
              <a:lnSpc>
                <a:spcPts val="3055"/>
              </a:lnSpc>
            </a:pPr>
            <a:r>
              <a:rPr lang="en-US" sz="2351" b="1" spc="-94">
                <a:solidFill>
                  <a:srgbClr val="0A1A42">
                    <a:alpha val="89804"/>
                  </a:srgbClr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optimizer</a:t>
            </a:r>
          </a:p>
        </p:txBody>
      </p:sp>
      <p:sp>
        <p:nvSpPr>
          <p:cNvPr id="36" name="Freeform 36"/>
          <p:cNvSpPr/>
          <p:nvPr/>
        </p:nvSpPr>
        <p:spPr>
          <a:xfrm>
            <a:off x="7612708" y="8133399"/>
            <a:ext cx="229694" cy="1082267"/>
          </a:xfrm>
          <a:custGeom>
            <a:avLst/>
            <a:gdLst/>
            <a:ahLst/>
            <a:cxnLst/>
            <a:rect l="l" t="t" r="r" b="b"/>
            <a:pathLst>
              <a:path w="229694" h="1082267">
                <a:moveTo>
                  <a:pt x="0" y="0"/>
                </a:moveTo>
                <a:lnTo>
                  <a:pt x="229694" y="0"/>
                </a:lnTo>
                <a:lnTo>
                  <a:pt x="229694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/>
            </a:stretch>
          </a:blipFill>
        </p:spPr>
      </p:sp>
      <p:sp>
        <p:nvSpPr>
          <p:cNvPr id="37" name="TextBox 37"/>
          <p:cNvSpPr txBox="1"/>
          <p:nvPr/>
        </p:nvSpPr>
        <p:spPr>
          <a:xfrm>
            <a:off x="8512002" y="8227315"/>
            <a:ext cx="2515939" cy="748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55"/>
              </a:lnSpc>
            </a:pPr>
            <a:r>
              <a:rPr lang="en-US" sz="2351" b="1" spc="-94">
                <a:solidFill>
                  <a:srgbClr val="0A1A42">
                    <a:alpha val="89804"/>
                  </a:srgbClr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Regularization and</a:t>
            </a:r>
          </a:p>
          <a:p>
            <a:pPr algn="ctr">
              <a:lnSpc>
                <a:spcPts val="3055"/>
              </a:lnSpc>
            </a:pPr>
            <a:r>
              <a:rPr lang="en-US" sz="2351" b="1" spc="-94">
                <a:solidFill>
                  <a:srgbClr val="0A1A42">
                    <a:alpha val="89804"/>
                  </a:srgbClr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training controls</a:t>
            </a:r>
          </a:p>
        </p:txBody>
      </p:sp>
      <p:sp>
        <p:nvSpPr>
          <p:cNvPr id="38" name="Freeform 38"/>
          <p:cNvSpPr/>
          <p:nvPr/>
        </p:nvSpPr>
        <p:spPr>
          <a:xfrm>
            <a:off x="11747196" y="8133399"/>
            <a:ext cx="229694" cy="1082267"/>
          </a:xfrm>
          <a:custGeom>
            <a:avLst/>
            <a:gdLst/>
            <a:ahLst/>
            <a:cxnLst/>
            <a:rect l="l" t="t" r="r" b="b"/>
            <a:pathLst>
              <a:path w="229694" h="1082267">
                <a:moveTo>
                  <a:pt x="0" y="0"/>
                </a:moveTo>
                <a:lnTo>
                  <a:pt x="229694" y="0"/>
                </a:lnTo>
                <a:lnTo>
                  <a:pt x="229694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/>
            </a:stretch>
          </a:blipFill>
        </p:spPr>
      </p:sp>
      <p:sp>
        <p:nvSpPr>
          <p:cNvPr id="39" name="TextBox 39"/>
          <p:cNvSpPr txBox="1"/>
          <p:nvPr/>
        </p:nvSpPr>
        <p:spPr>
          <a:xfrm>
            <a:off x="12525330" y="8227315"/>
            <a:ext cx="4303187" cy="748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55"/>
              </a:lnSpc>
            </a:pPr>
            <a:r>
              <a:rPr lang="en-US" sz="2351" b="1" spc="-94">
                <a:solidFill>
                  <a:srgbClr val="0A1A42">
                    <a:alpha val="89804"/>
                  </a:srgbClr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Model checkpointing and</a:t>
            </a:r>
          </a:p>
          <a:p>
            <a:pPr algn="ctr">
              <a:lnSpc>
                <a:spcPts val="3055"/>
              </a:lnSpc>
            </a:pPr>
            <a:r>
              <a:rPr lang="en-US" sz="2351" b="1" spc="-94">
                <a:solidFill>
                  <a:srgbClr val="0A1A42">
                    <a:alpha val="89804"/>
                  </a:srgbClr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early stopping where applicable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6020363" y="4259572"/>
            <a:ext cx="741049" cy="3240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0"/>
              </a:lnSpc>
            </a:pPr>
            <a:r>
              <a:rPr lang="en-US" sz="2039" b="1" spc="-81">
                <a:solidFill>
                  <a:srgbClr val="16A2B2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Recall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618031" y="471986"/>
            <a:ext cx="10527338" cy="889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382"/>
              </a:lnSpc>
            </a:pPr>
            <a:r>
              <a:rPr lang="en-US" sz="5273" b="1">
                <a:solidFill>
                  <a:srgbClr val="0B3160"/>
                </a:solidFill>
                <a:latin typeface="Inter Bold"/>
                <a:ea typeface="Inter Bold"/>
                <a:cs typeface="Inter Bold"/>
                <a:sym typeface="Inter Bold"/>
              </a:rPr>
              <a:t>Results &amp; Performance Analysis</a:t>
            </a:r>
          </a:p>
        </p:txBody>
      </p:sp>
      <p:sp>
        <p:nvSpPr>
          <p:cNvPr id="4" name="Freeform 4"/>
          <p:cNvSpPr/>
          <p:nvPr/>
        </p:nvSpPr>
        <p:spPr>
          <a:xfrm>
            <a:off x="645330" y="1497682"/>
            <a:ext cx="1968804" cy="218640"/>
          </a:xfrm>
          <a:custGeom>
            <a:avLst/>
            <a:gdLst/>
            <a:ahLst/>
            <a:cxnLst/>
            <a:rect l="l" t="t" r="r" b="b"/>
            <a:pathLst>
              <a:path w="1968804" h="218640">
                <a:moveTo>
                  <a:pt x="0" y="0"/>
                </a:moveTo>
                <a:lnTo>
                  <a:pt x="1968804" y="0"/>
                </a:lnTo>
                <a:lnTo>
                  <a:pt x="1968804" y="218640"/>
                </a:lnTo>
                <a:lnTo>
                  <a:pt x="0" y="2186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645330" y="1924030"/>
            <a:ext cx="9811206" cy="7936623"/>
          </a:xfrm>
          <a:custGeom>
            <a:avLst/>
            <a:gdLst/>
            <a:ahLst/>
            <a:cxnLst/>
            <a:rect l="l" t="t" r="r" b="b"/>
            <a:pathLst>
              <a:path w="9811206" h="7936623">
                <a:moveTo>
                  <a:pt x="0" y="0"/>
                </a:moveTo>
                <a:lnTo>
                  <a:pt x="9811206" y="0"/>
                </a:lnTo>
                <a:lnTo>
                  <a:pt x="9811206" y="7936622"/>
                </a:lnTo>
                <a:lnTo>
                  <a:pt x="0" y="79366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957866" y="2142670"/>
            <a:ext cx="875024" cy="644987"/>
          </a:xfrm>
          <a:custGeom>
            <a:avLst/>
            <a:gdLst/>
            <a:ahLst/>
            <a:cxnLst/>
            <a:rect l="l" t="t" r="r" b="b"/>
            <a:pathLst>
              <a:path w="875024" h="644987">
                <a:moveTo>
                  <a:pt x="0" y="0"/>
                </a:moveTo>
                <a:lnTo>
                  <a:pt x="875024" y="0"/>
                </a:lnTo>
                <a:lnTo>
                  <a:pt x="875024" y="644987"/>
                </a:lnTo>
                <a:lnTo>
                  <a:pt x="0" y="64498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2603196" y="2776725"/>
            <a:ext cx="1104718" cy="655919"/>
          </a:xfrm>
          <a:custGeom>
            <a:avLst/>
            <a:gdLst/>
            <a:ahLst/>
            <a:cxnLst/>
            <a:rect l="l" t="t" r="r" b="b"/>
            <a:pathLst>
              <a:path w="1104718" h="655919">
                <a:moveTo>
                  <a:pt x="0" y="0"/>
                </a:moveTo>
                <a:lnTo>
                  <a:pt x="1104718" y="0"/>
                </a:lnTo>
                <a:lnTo>
                  <a:pt x="1104718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3478220" y="3214004"/>
            <a:ext cx="885962" cy="644987"/>
          </a:xfrm>
          <a:custGeom>
            <a:avLst/>
            <a:gdLst/>
            <a:ahLst/>
            <a:cxnLst/>
            <a:rect l="l" t="t" r="r" b="b"/>
            <a:pathLst>
              <a:path w="885962" h="644987">
                <a:moveTo>
                  <a:pt x="0" y="0"/>
                </a:moveTo>
                <a:lnTo>
                  <a:pt x="885962" y="0"/>
                </a:lnTo>
                <a:lnTo>
                  <a:pt x="885962" y="644987"/>
                </a:lnTo>
                <a:lnTo>
                  <a:pt x="0" y="64498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4353244" y="3848060"/>
            <a:ext cx="875024" cy="655919"/>
          </a:xfrm>
          <a:custGeom>
            <a:avLst/>
            <a:gdLst/>
            <a:ahLst/>
            <a:cxnLst/>
            <a:rect l="l" t="t" r="r" b="b"/>
            <a:pathLst>
              <a:path w="875024" h="655919">
                <a:moveTo>
                  <a:pt x="0" y="0"/>
                </a:moveTo>
                <a:lnTo>
                  <a:pt x="875024" y="0"/>
                </a:lnTo>
                <a:lnTo>
                  <a:pt x="875024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4998574" y="4285339"/>
            <a:ext cx="1104718" cy="863627"/>
          </a:xfrm>
          <a:custGeom>
            <a:avLst/>
            <a:gdLst/>
            <a:ahLst/>
            <a:cxnLst/>
            <a:rect l="l" t="t" r="r" b="b"/>
            <a:pathLst>
              <a:path w="1104718" h="863627">
                <a:moveTo>
                  <a:pt x="0" y="0"/>
                </a:moveTo>
                <a:lnTo>
                  <a:pt x="1104718" y="0"/>
                </a:lnTo>
                <a:lnTo>
                  <a:pt x="1104718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5873598" y="4919394"/>
            <a:ext cx="885962" cy="655919"/>
          </a:xfrm>
          <a:custGeom>
            <a:avLst/>
            <a:gdLst/>
            <a:ahLst/>
            <a:cxnLst/>
            <a:rect l="l" t="t" r="r" b="b"/>
            <a:pathLst>
              <a:path w="885962" h="655919">
                <a:moveTo>
                  <a:pt x="0" y="0"/>
                </a:moveTo>
                <a:lnTo>
                  <a:pt x="885962" y="0"/>
                </a:lnTo>
                <a:lnTo>
                  <a:pt x="885962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6748622" y="5564382"/>
            <a:ext cx="875024" cy="655919"/>
          </a:xfrm>
          <a:custGeom>
            <a:avLst/>
            <a:gdLst/>
            <a:ahLst/>
            <a:cxnLst/>
            <a:rect l="l" t="t" r="r" b="b"/>
            <a:pathLst>
              <a:path w="875024" h="655919">
                <a:moveTo>
                  <a:pt x="0" y="0"/>
                </a:moveTo>
                <a:lnTo>
                  <a:pt x="875024" y="0"/>
                </a:lnTo>
                <a:lnTo>
                  <a:pt x="875024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7393952" y="5990729"/>
            <a:ext cx="1104718" cy="874559"/>
          </a:xfrm>
          <a:custGeom>
            <a:avLst/>
            <a:gdLst/>
            <a:ahLst/>
            <a:cxnLst/>
            <a:rect l="l" t="t" r="r" b="b"/>
            <a:pathLst>
              <a:path w="1104718" h="874559">
                <a:moveTo>
                  <a:pt x="0" y="0"/>
                </a:moveTo>
                <a:lnTo>
                  <a:pt x="1104718" y="0"/>
                </a:lnTo>
                <a:lnTo>
                  <a:pt x="1104718" y="874559"/>
                </a:lnTo>
                <a:lnTo>
                  <a:pt x="0" y="87455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8268976" y="6635716"/>
            <a:ext cx="875024" cy="655919"/>
          </a:xfrm>
          <a:custGeom>
            <a:avLst/>
            <a:gdLst/>
            <a:ahLst/>
            <a:cxnLst/>
            <a:rect l="l" t="t" r="r" b="b"/>
            <a:pathLst>
              <a:path w="875024" h="655919">
                <a:moveTo>
                  <a:pt x="0" y="0"/>
                </a:moveTo>
                <a:lnTo>
                  <a:pt x="875024" y="0"/>
                </a:lnTo>
                <a:lnTo>
                  <a:pt x="875024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9144000" y="7280704"/>
            <a:ext cx="875024" cy="655919"/>
          </a:xfrm>
          <a:custGeom>
            <a:avLst/>
            <a:gdLst/>
            <a:ahLst/>
            <a:cxnLst/>
            <a:rect l="l" t="t" r="r" b="b"/>
            <a:pathLst>
              <a:path w="875024" h="655919">
                <a:moveTo>
                  <a:pt x="0" y="0"/>
                </a:moveTo>
                <a:lnTo>
                  <a:pt x="875024" y="0"/>
                </a:lnTo>
                <a:lnTo>
                  <a:pt x="875024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2781022" y="9078989"/>
            <a:ext cx="5267165" cy="3735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61"/>
              </a:lnSpc>
            </a:pPr>
            <a:r>
              <a:rPr lang="en-US" sz="2355" b="1">
                <a:solidFill>
                  <a:srgbClr val="0B3160"/>
                </a:solidFill>
                <a:latin typeface="Inter Bold"/>
                <a:ea typeface="Inter Bold"/>
                <a:cs typeface="Inter Bold"/>
                <a:sym typeface="Inter Bold"/>
              </a:rPr>
              <a:t>Confusion Matrix – ASL Recognition</a:t>
            </a:r>
          </a:p>
        </p:txBody>
      </p:sp>
      <p:sp>
        <p:nvSpPr>
          <p:cNvPr id="17" name="Freeform 17"/>
          <p:cNvSpPr/>
          <p:nvPr/>
        </p:nvSpPr>
        <p:spPr>
          <a:xfrm>
            <a:off x="10664354" y="1924030"/>
            <a:ext cx="6759560" cy="5793953"/>
          </a:xfrm>
          <a:custGeom>
            <a:avLst/>
            <a:gdLst/>
            <a:ahLst/>
            <a:cxnLst/>
            <a:rect l="l" t="t" r="r" b="b"/>
            <a:pathLst>
              <a:path w="6759560" h="5793953">
                <a:moveTo>
                  <a:pt x="0" y="0"/>
                </a:moveTo>
                <a:lnTo>
                  <a:pt x="6759560" y="0"/>
                </a:lnTo>
                <a:lnTo>
                  <a:pt x="6759560" y="5793953"/>
                </a:lnTo>
                <a:lnTo>
                  <a:pt x="0" y="5793953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11465719" y="2573080"/>
            <a:ext cx="4822031" cy="77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6"/>
              </a:lnSpc>
            </a:pPr>
            <a:r>
              <a:rPr lang="en-US" sz="2254" spc="-45">
                <a:solidFill>
                  <a:srgbClr val="0B3160"/>
                </a:solidFill>
                <a:latin typeface="Inter"/>
                <a:ea typeface="Inter"/>
                <a:cs typeface="Inter"/>
                <a:sym typeface="Inter"/>
              </a:rPr>
              <a:t>Strong diagonal indicates</a:t>
            </a:r>
          </a:p>
          <a:p>
            <a:pPr algn="l">
              <a:lnSpc>
                <a:spcPts val="3156"/>
              </a:lnSpc>
            </a:pPr>
            <a:r>
              <a:rPr lang="en-US" sz="2254" spc="-45">
                <a:solidFill>
                  <a:srgbClr val="0B3160"/>
                </a:solidFill>
                <a:latin typeface="Inter"/>
                <a:ea typeface="Inter"/>
                <a:cs typeface="Inter"/>
                <a:sym typeface="Inter"/>
              </a:rPr>
              <a:t>correct classification.</a:t>
            </a:r>
          </a:p>
        </p:txBody>
      </p:sp>
      <p:sp>
        <p:nvSpPr>
          <p:cNvPr id="19" name="Freeform 19"/>
          <p:cNvSpPr/>
          <p:nvPr/>
        </p:nvSpPr>
        <p:spPr>
          <a:xfrm>
            <a:off x="11320622" y="3421712"/>
            <a:ext cx="5447024" cy="229572"/>
          </a:xfrm>
          <a:custGeom>
            <a:avLst/>
            <a:gdLst/>
            <a:ahLst/>
            <a:cxnLst/>
            <a:rect l="l" t="t" r="r" b="b"/>
            <a:pathLst>
              <a:path w="5447024" h="229572">
                <a:moveTo>
                  <a:pt x="0" y="0"/>
                </a:moveTo>
                <a:lnTo>
                  <a:pt x="5447024" y="0"/>
                </a:lnTo>
                <a:lnTo>
                  <a:pt x="5447024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11465719" y="3762886"/>
            <a:ext cx="4822031" cy="77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6"/>
              </a:lnSpc>
            </a:pPr>
            <a:r>
              <a:rPr lang="en-US" sz="2254" spc="-45">
                <a:solidFill>
                  <a:srgbClr val="0B3160"/>
                </a:solidFill>
                <a:latin typeface="Inter"/>
                <a:ea typeface="Inter"/>
                <a:cs typeface="Inter"/>
                <a:sym typeface="Inter"/>
              </a:rPr>
              <a:t>Most classes show clear</a:t>
            </a:r>
          </a:p>
          <a:p>
            <a:pPr algn="l">
              <a:lnSpc>
                <a:spcPts val="3156"/>
              </a:lnSpc>
            </a:pPr>
            <a:r>
              <a:rPr lang="en-US" sz="2254" spc="-45">
                <a:solidFill>
                  <a:srgbClr val="0B3160"/>
                </a:solidFill>
                <a:latin typeface="Inter"/>
                <a:ea typeface="Inter"/>
                <a:cs typeface="Inter"/>
                <a:sym typeface="Inter"/>
              </a:rPr>
              <a:t>separation.</a:t>
            </a:r>
          </a:p>
        </p:txBody>
      </p:sp>
      <p:sp>
        <p:nvSpPr>
          <p:cNvPr id="21" name="Freeform 21"/>
          <p:cNvSpPr/>
          <p:nvPr/>
        </p:nvSpPr>
        <p:spPr>
          <a:xfrm>
            <a:off x="11320622" y="4711687"/>
            <a:ext cx="5447024" cy="218640"/>
          </a:xfrm>
          <a:custGeom>
            <a:avLst/>
            <a:gdLst/>
            <a:ahLst/>
            <a:cxnLst/>
            <a:rect l="l" t="t" r="r" b="b"/>
            <a:pathLst>
              <a:path w="5447024" h="218640">
                <a:moveTo>
                  <a:pt x="0" y="0"/>
                </a:moveTo>
                <a:lnTo>
                  <a:pt x="5447024" y="0"/>
                </a:lnTo>
                <a:lnTo>
                  <a:pt x="5447024" y="218639"/>
                </a:lnTo>
                <a:lnTo>
                  <a:pt x="0" y="218639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11465719" y="4952693"/>
            <a:ext cx="4822031" cy="77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6"/>
              </a:lnSpc>
            </a:pPr>
            <a:r>
              <a:rPr lang="en-US" sz="2254" spc="-45">
                <a:solidFill>
                  <a:srgbClr val="0B3160"/>
                </a:solidFill>
                <a:latin typeface="Inter"/>
                <a:ea typeface="Inter"/>
                <a:cs typeface="Inter"/>
                <a:sym typeface="Inter"/>
              </a:rPr>
              <a:t>Off-diagonal entries represent misclassification.</a:t>
            </a:r>
          </a:p>
        </p:txBody>
      </p:sp>
      <p:sp>
        <p:nvSpPr>
          <p:cNvPr id="23" name="Freeform 23"/>
          <p:cNvSpPr/>
          <p:nvPr/>
        </p:nvSpPr>
        <p:spPr>
          <a:xfrm>
            <a:off x="11320622" y="5783021"/>
            <a:ext cx="5447024" cy="218640"/>
          </a:xfrm>
          <a:custGeom>
            <a:avLst/>
            <a:gdLst/>
            <a:ahLst/>
            <a:cxnLst/>
            <a:rect l="l" t="t" r="r" b="b"/>
            <a:pathLst>
              <a:path w="5447024" h="218640">
                <a:moveTo>
                  <a:pt x="0" y="0"/>
                </a:moveTo>
                <a:lnTo>
                  <a:pt x="5447024" y="0"/>
                </a:lnTo>
                <a:lnTo>
                  <a:pt x="5447024" y="218640"/>
                </a:lnTo>
                <a:lnTo>
                  <a:pt x="0" y="218640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</p:sp>
      <p:sp>
        <p:nvSpPr>
          <p:cNvPr id="24" name="TextBox 24"/>
          <p:cNvSpPr txBox="1"/>
          <p:nvPr/>
        </p:nvSpPr>
        <p:spPr>
          <a:xfrm>
            <a:off x="11465719" y="6157560"/>
            <a:ext cx="4822031" cy="77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6"/>
              </a:lnSpc>
            </a:pPr>
            <a:r>
              <a:rPr lang="en-US" sz="2254" spc="-45">
                <a:solidFill>
                  <a:srgbClr val="0B3160"/>
                </a:solidFill>
                <a:latin typeface="Inter"/>
                <a:ea typeface="Inter"/>
                <a:cs typeface="Inter"/>
                <a:sym typeface="Inter"/>
              </a:rPr>
              <a:t>The matrix provides class-wise performance insight.</a:t>
            </a:r>
          </a:p>
        </p:txBody>
      </p:sp>
      <p:sp>
        <p:nvSpPr>
          <p:cNvPr id="25" name="Freeform 25"/>
          <p:cNvSpPr/>
          <p:nvPr/>
        </p:nvSpPr>
        <p:spPr>
          <a:xfrm>
            <a:off x="10664354" y="7707051"/>
            <a:ext cx="6759560" cy="2153601"/>
          </a:xfrm>
          <a:custGeom>
            <a:avLst/>
            <a:gdLst/>
            <a:ahLst/>
            <a:cxnLst/>
            <a:rect l="l" t="t" r="r" b="b"/>
            <a:pathLst>
              <a:path w="6759560" h="2153601">
                <a:moveTo>
                  <a:pt x="0" y="0"/>
                </a:moveTo>
                <a:lnTo>
                  <a:pt x="6759560" y="0"/>
                </a:lnTo>
                <a:lnTo>
                  <a:pt x="6759560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/>
            </a:stretch>
          </a:blipFill>
        </p:spPr>
      </p:sp>
      <p:sp>
        <p:nvSpPr>
          <p:cNvPr id="26" name="TextBox 26"/>
          <p:cNvSpPr txBox="1"/>
          <p:nvPr/>
        </p:nvSpPr>
        <p:spPr>
          <a:xfrm>
            <a:off x="11420943" y="8192910"/>
            <a:ext cx="4477587" cy="11238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4"/>
              </a:lnSpc>
            </a:pPr>
            <a:r>
              <a:rPr lang="en-US" sz="2311" b="1">
                <a:solidFill>
                  <a:srgbClr val="7261C9"/>
                </a:solidFill>
                <a:latin typeface="Inter Bold"/>
                <a:ea typeface="Inter Bold"/>
                <a:cs typeface="Inter Bold"/>
                <a:sym typeface="Inter Bold"/>
              </a:rPr>
              <a:t>Current system predicts individual ASL signs/alphabets from input images.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4528270" y="8486055"/>
            <a:ext cx="1772670" cy="2817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53"/>
              </a:lnSpc>
            </a:pPr>
            <a:r>
              <a:rPr lang="en-US" sz="1810" b="1">
                <a:solidFill>
                  <a:srgbClr val="0B3160"/>
                </a:solidFill>
                <a:latin typeface="Inter Bold"/>
                <a:ea typeface="Inter Bold"/>
                <a:cs typeface="Inter Bold"/>
                <a:sym typeface="Inter Bold"/>
              </a:rPr>
              <a:t>Predicted Label</a:t>
            </a:r>
          </a:p>
        </p:txBody>
      </p:sp>
      <p:sp>
        <p:nvSpPr>
          <p:cNvPr id="28" name="TextBox 28"/>
          <p:cNvSpPr txBox="1"/>
          <p:nvPr/>
        </p:nvSpPr>
        <p:spPr>
          <a:xfrm rot="-5400000">
            <a:off x="449969" y="5001465"/>
            <a:ext cx="1197297" cy="2817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53"/>
              </a:lnSpc>
            </a:pPr>
            <a:r>
              <a:rPr lang="en-US" sz="1810" b="1">
                <a:solidFill>
                  <a:srgbClr val="0B3160"/>
                </a:solidFill>
                <a:latin typeface="Inter Bold"/>
                <a:ea typeface="Inter Bold"/>
                <a:cs typeface="Inter Bold"/>
                <a:sym typeface="Inter Bold"/>
              </a:rPr>
              <a:t>True Label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2233628" y="2349489"/>
            <a:ext cx="289410" cy="265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16"/>
              </a:lnSpc>
            </a:pPr>
            <a:r>
              <a:rPr lang="en-US" sz="1705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98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805753" y="6280369"/>
            <a:ext cx="289410" cy="265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16"/>
              </a:lnSpc>
            </a:pPr>
            <a:r>
              <a:rPr lang="en-US" sz="1705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98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3814182" y="3479052"/>
            <a:ext cx="289410" cy="265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16"/>
              </a:lnSpc>
            </a:pPr>
            <a:r>
              <a:rPr lang="en-US" sz="1705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96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617854" y="4028046"/>
            <a:ext cx="289410" cy="2817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53"/>
              </a:lnSpc>
            </a:pPr>
            <a:r>
              <a:rPr lang="en-US" sz="1810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97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5421526" y="4593554"/>
            <a:ext cx="289410" cy="265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16"/>
              </a:lnSpc>
            </a:pPr>
            <a:r>
              <a:rPr lang="en-US" sz="1705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96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002081" y="5714861"/>
            <a:ext cx="289410" cy="2817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53"/>
              </a:lnSpc>
            </a:pPr>
            <a:r>
              <a:rPr lang="en-US" sz="1810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97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609425" y="6844424"/>
            <a:ext cx="289410" cy="2817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53"/>
              </a:lnSpc>
            </a:pPr>
            <a:r>
              <a:rPr lang="en-US" sz="1810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97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3010511" y="2913544"/>
            <a:ext cx="289410" cy="2817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53"/>
              </a:lnSpc>
            </a:pPr>
            <a:r>
              <a:rPr lang="en-US" sz="1810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97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6198409" y="5142549"/>
            <a:ext cx="289410" cy="2817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53"/>
              </a:lnSpc>
            </a:pPr>
            <a:r>
              <a:rPr lang="en-US" sz="1810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97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9386307" y="7424992"/>
            <a:ext cx="289410" cy="265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16"/>
              </a:lnSpc>
            </a:pPr>
            <a:r>
              <a:rPr lang="en-US" sz="1705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99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584910" y="2332975"/>
            <a:ext cx="169705" cy="2982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90"/>
              </a:lnSpc>
            </a:pPr>
            <a:r>
              <a:rPr lang="en-US" sz="1916" b="1">
                <a:solidFill>
                  <a:srgbClr val="0B3160"/>
                </a:solidFill>
                <a:latin typeface="Inter Bold"/>
                <a:ea typeface="Inter Bold"/>
                <a:cs typeface="Inter Bold"/>
                <a:sym typeface="Inter Bold"/>
              </a:rPr>
              <a:t>A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587250" y="3462538"/>
            <a:ext cx="165026" cy="2982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90"/>
              </a:lnSpc>
            </a:pPr>
            <a:r>
              <a:rPr lang="en-US" sz="1916" b="1">
                <a:solidFill>
                  <a:srgbClr val="0B3160"/>
                </a:solidFill>
                <a:latin typeface="Inter Bold"/>
                <a:ea typeface="Inter Bold"/>
                <a:cs typeface="Inter Bold"/>
                <a:sym typeface="Inter Bold"/>
              </a:rPr>
              <a:t>C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587804" y="4019789"/>
            <a:ext cx="163917" cy="2982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90"/>
              </a:lnSpc>
            </a:pPr>
            <a:r>
              <a:rPr lang="en-US" sz="1916" b="1">
                <a:solidFill>
                  <a:srgbClr val="0B3160"/>
                </a:solidFill>
                <a:latin typeface="Inter Bold"/>
                <a:ea typeface="Inter Bold"/>
                <a:cs typeface="Inter Bold"/>
                <a:sym typeface="Inter Bold"/>
              </a:rPr>
              <a:t>D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598826" y="4577041"/>
            <a:ext cx="141873" cy="2982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90"/>
              </a:lnSpc>
            </a:pPr>
            <a:r>
              <a:rPr lang="en-US" sz="1916" b="1">
                <a:solidFill>
                  <a:srgbClr val="0B3160"/>
                </a:solidFill>
                <a:latin typeface="Inter Bold"/>
                <a:ea typeface="Inter Bold"/>
                <a:cs typeface="Inter Bold"/>
                <a:sym typeface="Inter Bold"/>
              </a:rPr>
              <a:t>E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583863" y="5706604"/>
            <a:ext cx="171799" cy="2982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90"/>
              </a:lnSpc>
            </a:pPr>
            <a:r>
              <a:rPr lang="en-US" sz="1916" b="1">
                <a:solidFill>
                  <a:srgbClr val="0B3160"/>
                </a:solidFill>
                <a:latin typeface="Inter Bold"/>
                <a:ea typeface="Inter Bold"/>
                <a:cs typeface="Inter Bold"/>
                <a:sym typeface="Inter Bold"/>
              </a:rPr>
              <a:t>G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580661" y="6263855"/>
            <a:ext cx="178203" cy="2982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90"/>
              </a:lnSpc>
            </a:pPr>
            <a:r>
              <a:rPr lang="en-US" sz="1916" b="1">
                <a:solidFill>
                  <a:srgbClr val="0B3160"/>
                </a:solidFill>
                <a:latin typeface="Inter Bold"/>
                <a:ea typeface="Inter Bold"/>
                <a:cs typeface="Inter Bold"/>
                <a:sym typeface="Inter Bold"/>
              </a:rPr>
              <a:t>H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633001" y="6836167"/>
            <a:ext cx="73523" cy="2982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90"/>
              </a:lnSpc>
            </a:pPr>
            <a:r>
              <a:rPr lang="en-US" sz="1916" b="1">
                <a:solidFill>
                  <a:srgbClr val="0B3160"/>
                </a:solidFill>
                <a:latin typeface="Inter Bold"/>
                <a:ea typeface="Inter Bold"/>
                <a:cs typeface="Inter Bold"/>
                <a:sym typeface="Inter Bold"/>
              </a:rPr>
              <a:t>I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589282" y="2905287"/>
            <a:ext cx="160961" cy="2982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90"/>
              </a:lnSpc>
            </a:pPr>
            <a:r>
              <a:rPr lang="en-US" sz="1916" b="1">
                <a:solidFill>
                  <a:srgbClr val="0B3160"/>
                </a:solidFill>
                <a:latin typeface="Inter Bold"/>
                <a:ea typeface="Inter Bold"/>
                <a:cs typeface="Inter Bold"/>
                <a:sym typeface="Inter Bold"/>
              </a:rPr>
              <a:t>B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600673" y="5134292"/>
            <a:ext cx="138178" cy="2982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90"/>
              </a:lnSpc>
            </a:pPr>
            <a:r>
              <a:rPr lang="en-US" sz="1916" b="1">
                <a:solidFill>
                  <a:srgbClr val="0B3160"/>
                </a:solidFill>
                <a:latin typeface="Inter Bold"/>
                <a:ea typeface="Inter Bold"/>
                <a:cs typeface="Inter Bold"/>
                <a:sym typeface="Inter Bold"/>
              </a:rPr>
              <a:t>F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599319" y="7408479"/>
            <a:ext cx="140887" cy="2982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90"/>
              </a:lnSpc>
            </a:pPr>
            <a:r>
              <a:rPr lang="en-US" sz="1916" b="1">
                <a:solidFill>
                  <a:srgbClr val="0B3160"/>
                </a:solidFill>
                <a:latin typeface="Inter Bold"/>
                <a:ea typeface="Inter Bold"/>
                <a:cs typeface="Inter Bold"/>
                <a:sym typeface="Inter Bold"/>
              </a:rPr>
              <a:t>J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2308214" y="7965730"/>
            <a:ext cx="169705" cy="2982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90"/>
              </a:lnSpc>
            </a:pPr>
            <a:r>
              <a:rPr lang="en-US" sz="1916" b="1">
                <a:solidFill>
                  <a:srgbClr val="0B3160"/>
                </a:solidFill>
                <a:latin typeface="Inter Bold"/>
                <a:ea typeface="Inter Bold"/>
                <a:cs typeface="Inter Bold"/>
                <a:sym typeface="Inter Bold"/>
              </a:rPr>
              <a:t>A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3891109" y="7965730"/>
            <a:ext cx="165026" cy="2982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90"/>
              </a:lnSpc>
            </a:pPr>
            <a:r>
              <a:rPr lang="en-US" sz="1916" b="1">
                <a:solidFill>
                  <a:srgbClr val="0B3160"/>
                </a:solidFill>
                <a:latin typeface="Inter Bold"/>
                <a:ea typeface="Inter Bold"/>
                <a:cs typeface="Inter Bold"/>
                <a:sym typeface="Inter Bold"/>
              </a:rPr>
              <a:t>C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4695335" y="7965730"/>
            <a:ext cx="163917" cy="2982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90"/>
              </a:lnSpc>
            </a:pPr>
            <a:r>
              <a:rPr lang="en-US" sz="1916" b="1">
                <a:solidFill>
                  <a:srgbClr val="0B3160"/>
                </a:solidFill>
                <a:latin typeface="Inter Bold"/>
                <a:ea typeface="Inter Bold"/>
                <a:cs typeface="Inter Bold"/>
                <a:sym typeface="Inter Bold"/>
              </a:rPr>
              <a:t>D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7075621" y="7965730"/>
            <a:ext cx="171799" cy="2982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90"/>
              </a:lnSpc>
            </a:pPr>
            <a:r>
              <a:rPr lang="en-US" sz="1916" b="1">
                <a:solidFill>
                  <a:srgbClr val="0B3160"/>
                </a:solidFill>
                <a:latin typeface="Inter Bold"/>
                <a:ea typeface="Inter Bold"/>
                <a:cs typeface="Inter Bold"/>
                <a:sym typeface="Inter Bold"/>
              </a:rPr>
              <a:t>G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3089469" y="7965730"/>
            <a:ext cx="160961" cy="2982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90"/>
              </a:lnSpc>
            </a:pPr>
            <a:r>
              <a:rPr lang="en-US" sz="1916" b="1">
                <a:solidFill>
                  <a:srgbClr val="0B3160"/>
                </a:solidFill>
                <a:latin typeface="Inter Bold"/>
                <a:ea typeface="Inter Bold"/>
                <a:cs typeface="Inter Bold"/>
                <a:sym typeface="Inter Bold"/>
              </a:rPr>
              <a:t>B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5483240" y="7965730"/>
            <a:ext cx="141873" cy="2982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90"/>
              </a:lnSpc>
            </a:pPr>
            <a:r>
              <a:rPr lang="en-US" sz="1916" b="1">
                <a:solidFill>
                  <a:srgbClr val="0B3160"/>
                </a:solidFill>
                <a:latin typeface="Inter Bold"/>
                <a:ea typeface="Inter Bold"/>
                <a:cs typeface="Inter Bold"/>
                <a:sym typeface="Inter Bold"/>
              </a:rPr>
              <a:t>E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7849301" y="7965730"/>
            <a:ext cx="178203" cy="2982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90"/>
              </a:lnSpc>
            </a:pPr>
            <a:r>
              <a:rPr lang="en-US" sz="1916" b="1">
                <a:solidFill>
                  <a:srgbClr val="0B3160"/>
                </a:solidFill>
                <a:latin typeface="Inter Bold"/>
                <a:ea typeface="Inter Bold"/>
                <a:cs typeface="Inter Bold"/>
                <a:sym typeface="Inter Bold"/>
              </a:rPr>
              <a:t>H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6288759" y="7965730"/>
            <a:ext cx="138178" cy="2982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90"/>
              </a:lnSpc>
            </a:pPr>
            <a:r>
              <a:rPr lang="en-US" sz="1916" b="1">
                <a:solidFill>
                  <a:srgbClr val="0B3160"/>
                </a:solidFill>
                <a:latin typeface="Inter Bold"/>
                <a:ea typeface="Inter Bold"/>
                <a:cs typeface="Inter Bold"/>
                <a:sym typeface="Inter Bold"/>
              </a:rPr>
              <a:t>F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9448514" y="7965730"/>
            <a:ext cx="140887" cy="2982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90"/>
              </a:lnSpc>
            </a:pPr>
            <a:r>
              <a:rPr lang="en-US" sz="1916" b="1">
                <a:solidFill>
                  <a:srgbClr val="0B3160"/>
                </a:solidFill>
                <a:latin typeface="Inter Bold"/>
                <a:ea typeface="Inter Bold"/>
                <a:cs typeface="Inter Bold"/>
                <a:sym typeface="Inter Bold"/>
              </a:rPr>
              <a:t>J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8705313" y="7965730"/>
            <a:ext cx="73523" cy="2982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90"/>
              </a:lnSpc>
            </a:pPr>
            <a:r>
              <a:rPr lang="en-US" sz="1916" b="1">
                <a:solidFill>
                  <a:srgbClr val="0B3160"/>
                </a:solidFill>
                <a:latin typeface="Inter Bold"/>
                <a:ea typeface="Inter Bold"/>
                <a:cs typeface="Inter Bold"/>
                <a:sym typeface="Inter Bold"/>
              </a:rPr>
              <a:t>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491586" y="410911"/>
            <a:ext cx="11700414" cy="8207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395"/>
              </a:lnSpc>
            </a:pPr>
            <a:r>
              <a:rPr lang="en-US" sz="5816" b="1" dirty="0">
                <a:solidFill>
                  <a:srgbClr val="0C3059"/>
                </a:solidFill>
                <a:latin typeface="Inter Bold"/>
                <a:ea typeface="Inter Bold"/>
                <a:cs typeface="Inter Bold"/>
                <a:sym typeface="Inter Bold"/>
              </a:rPr>
              <a:t>Conclusion &amp; Future Scope</a:t>
            </a:r>
          </a:p>
        </p:txBody>
      </p:sp>
      <p:sp>
        <p:nvSpPr>
          <p:cNvPr id="4" name="Freeform 4"/>
          <p:cNvSpPr/>
          <p:nvPr/>
        </p:nvSpPr>
        <p:spPr>
          <a:xfrm>
            <a:off x="426574" y="1279043"/>
            <a:ext cx="5020450" cy="229572"/>
          </a:xfrm>
          <a:custGeom>
            <a:avLst/>
            <a:gdLst/>
            <a:ahLst/>
            <a:cxnLst/>
            <a:rect l="l" t="t" r="r" b="b"/>
            <a:pathLst>
              <a:path w="5020450" h="229572">
                <a:moveTo>
                  <a:pt x="0" y="0"/>
                </a:moveTo>
                <a:lnTo>
                  <a:pt x="5020450" y="0"/>
                </a:lnTo>
                <a:lnTo>
                  <a:pt x="5020450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426574" y="1705390"/>
            <a:ext cx="10467474" cy="3662216"/>
          </a:xfrm>
          <a:custGeom>
            <a:avLst/>
            <a:gdLst/>
            <a:ahLst/>
            <a:cxnLst/>
            <a:rect l="l" t="t" r="r" b="b"/>
            <a:pathLst>
              <a:path w="10467474" h="3662216">
                <a:moveTo>
                  <a:pt x="0" y="0"/>
                </a:moveTo>
                <a:lnTo>
                  <a:pt x="10467474" y="0"/>
                </a:lnTo>
                <a:lnTo>
                  <a:pt x="10467474" y="3662216"/>
                </a:lnTo>
                <a:lnTo>
                  <a:pt x="0" y="366221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079622" y="2140243"/>
            <a:ext cx="1872935" cy="391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58"/>
              </a:lnSpc>
            </a:pPr>
            <a:r>
              <a:rPr lang="en-US" sz="2781" b="1" spc="-82">
                <a:solidFill>
                  <a:srgbClr val="8B70CC"/>
                </a:solidFill>
                <a:latin typeface="Inter Bold"/>
                <a:ea typeface="Inter Bold"/>
                <a:cs typeface="Inter Bold"/>
                <a:sym typeface="Inter Bold"/>
              </a:rPr>
              <a:t>Conclusion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85875" y="2723753"/>
            <a:ext cx="8036719" cy="642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6"/>
              </a:lnSpc>
            </a:pPr>
            <a:r>
              <a:rPr lang="en-US" sz="2188" b="1" spc="-65">
                <a:solidFill>
                  <a:srgbClr val="0C3059"/>
                </a:solidFill>
                <a:latin typeface="Inter Medium"/>
                <a:ea typeface="Inter Medium"/>
                <a:cs typeface="Inter Medium"/>
                <a:sym typeface="Inter Medium"/>
              </a:rPr>
              <a:t>The implemented system performs static ASL sign/alfabet recognition using a ResNet50-based deep learning model.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85875" y="3567160"/>
            <a:ext cx="8036719" cy="642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6"/>
              </a:lnSpc>
            </a:pPr>
            <a:r>
              <a:rPr lang="en-US" sz="2188" b="1" spc="-65">
                <a:solidFill>
                  <a:srgbClr val="0C3059"/>
                </a:solidFill>
                <a:latin typeface="Inter Medium"/>
                <a:ea typeface="Inter Medium"/>
                <a:cs typeface="Inter Medium"/>
                <a:sym typeface="Inter Medium"/>
              </a:rPr>
              <a:t>Transfer learning enables effective extraction of visual</a:t>
            </a:r>
          </a:p>
          <a:p>
            <a:pPr algn="l">
              <a:lnSpc>
                <a:spcPts val="2626"/>
              </a:lnSpc>
            </a:pPr>
            <a:r>
              <a:rPr lang="en-US" sz="2188" b="1" spc="-65">
                <a:solidFill>
                  <a:srgbClr val="0C3059"/>
                </a:solidFill>
                <a:latin typeface="Inter Medium"/>
                <a:ea typeface="Inter Medium"/>
                <a:cs typeface="Inter Medium"/>
                <a:sym typeface="Inter Medium"/>
              </a:rPr>
              <a:t>features for sign classification.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85875" y="4440689"/>
            <a:ext cx="8036719" cy="642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6"/>
              </a:lnSpc>
            </a:pPr>
            <a:r>
              <a:rPr lang="en-US" sz="2188" b="1" spc="-65">
                <a:solidFill>
                  <a:srgbClr val="0C3059"/>
                </a:solidFill>
                <a:latin typeface="Inter Medium"/>
                <a:ea typeface="Inter Medium"/>
                <a:cs typeface="Inter Medium"/>
                <a:sym typeface="Inter Medium"/>
              </a:rPr>
              <a:t>The system provides a foundation for more advanced</a:t>
            </a:r>
          </a:p>
          <a:p>
            <a:pPr algn="l">
              <a:lnSpc>
                <a:spcPts val="2626"/>
              </a:lnSpc>
            </a:pPr>
            <a:r>
              <a:rPr lang="en-US" sz="2188" b="1" spc="-65">
                <a:solidFill>
                  <a:srgbClr val="0C3059"/>
                </a:solidFill>
                <a:latin typeface="Inter Medium"/>
                <a:ea typeface="Inter Medium"/>
                <a:cs typeface="Inter Medium"/>
                <a:sym typeface="Inter Medium"/>
              </a:rPr>
              <a:t>continuous sign-language understanding.</a:t>
            </a:r>
          </a:p>
        </p:txBody>
      </p:sp>
      <p:sp>
        <p:nvSpPr>
          <p:cNvPr id="10" name="Freeform 10"/>
          <p:cNvSpPr/>
          <p:nvPr/>
        </p:nvSpPr>
        <p:spPr>
          <a:xfrm>
            <a:off x="11965952" y="426348"/>
            <a:ext cx="3937608" cy="4941258"/>
          </a:xfrm>
          <a:custGeom>
            <a:avLst/>
            <a:gdLst/>
            <a:ahLst/>
            <a:cxnLst/>
            <a:rect l="l" t="t" r="r" b="b"/>
            <a:pathLst>
              <a:path w="3937608" h="4941258">
                <a:moveTo>
                  <a:pt x="0" y="0"/>
                </a:moveTo>
                <a:lnTo>
                  <a:pt x="3937608" y="0"/>
                </a:lnTo>
                <a:lnTo>
                  <a:pt x="3937608" y="4941258"/>
                </a:lnTo>
                <a:lnTo>
                  <a:pt x="0" y="494125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942074" y="5724723"/>
            <a:ext cx="2233194" cy="391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58"/>
              </a:lnSpc>
            </a:pPr>
            <a:r>
              <a:rPr lang="en-US" sz="2781" b="1" spc="-82">
                <a:solidFill>
                  <a:srgbClr val="39A9A9"/>
                </a:solidFill>
                <a:latin typeface="Inter Bold"/>
                <a:ea typeface="Inter Bold"/>
                <a:cs typeface="Inter Bold"/>
                <a:sym typeface="Inter Bold"/>
              </a:rPr>
              <a:t>Future Scope</a:t>
            </a:r>
          </a:p>
        </p:txBody>
      </p:sp>
      <p:sp>
        <p:nvSpPr>
          <p:cNvPr id="12" name="Freeform 12"/>
          <p:cNvSpPr/>
          <p:nvPr/>
        </p:nvSpPr>
        <p:spPr>
          <a:xfrm>
            <a:off x="645330" y="6209369"/>
            <a:ext cx="3500096" cy="3006296"/>
          </a:xfrm>
          <a:custGeom>
            <a:avLst/>
            <a:gdLst/>
            <a:ahLst/>
            <a:cxnLst/>
            <a:rect l="l" t="t" r="r" b="b"/>
            <a:pathLst>
              <a:path w="3500096" h="3006296">
                <a:moveTo>
                  <a:pt x="0" y="0"/>
                </a:moveTo>
                <a:lnTo>
                  <a:pt x="3500096" y="0"/>
                </a:lnTo>
                <a:lnTo>
                  <a:pt x="3500096" y="3006296"/>
                </a:lnTo>
                <a:lnTo>
                  <a:pt x="0" y="300629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093214" y="6441449"/>
            <a:ext cx="513771" cy="5175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01"/>
              </a:lnSpc>
            </a:pPr>
            <a:r>
              <a:rPr lang="en-US" sz="3638" b="1" spc="-108">
                <a:solidFill>
                  <a:srgbClr val="8B70CC"/>
                </a:solidFill>
                <a:latin typeface="Inter Bold"/>
                <a:ea typeface="Inter Bold"/>
                <a:cs typeface="Inter Bold"/>
                <a:sym typeface="Inter Bold"/>
              </a:rPr>
              <a:t>01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25141" y="7037482"/>
            <a:ext cx="2411016" cy="9200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79"/>
              </a:lnSpc>
            </a:pPr>
            <a:r>
              <a:rPr lang="en-US" sz="2254" b="1" spc="-67">
                <a:solidFill>
                  <a:srgbClr val="0C3059"/>
                </a:solidFill>
                <a:latin typeface="Inter Bold"/>
                <a:ea typeface="Inter Bold"/>
                <a:cs typeface="Inter Bold"/>
                <a:sym typeface="Inter Bold"/>
              </a:rPr>
              <a:t>Continuous</a:t>
            </a:r>
          </a:p>
          <a:p>
            <a:pPr algn="l">
              <a:lnSpc>
                <a:spcPts val="2479"/>
              </a:lnSpc>
            </a:pPr>
            <a:r>
              <a:rPr lang="en-US" sz="2254" b="1" spc="-67">
                <a:solidFill>
                  <a:srgbClr val="0C3059"/>
                </a:solidFill>
                <a:latin typeface="Inter Bold"/>
                <a:ea typeface="Inter Bold"/>
                <a:cs typeface="Inter Bold"/>
                <a:sym typeface="Inter Bold"/>
              </a:rPr>
              <a:t>Video-Based</a:t>
            </a:r>
          </a:p>
          <a:p>
            <a:pPr algn="l">
              <a:lnSpc>
                <a:spcPts val="2479"/>
              </a:lnSpc>
            </a:pPr>
            <a:r>
              <a:rPr lang="en-US" sz="2254" b="1" spc="-67">
                <a:solidFill>
                  <a:srgbClr val="0C3059"/>
                </a:solidFill>
                <a:latin typeface="Inter Bold"/>
                <a:ea typeface="Inter Bold"/>
                <a:cs typeface="Inter Bold"/>
                <a:sym typeface="Inter Bold"/>
              </a:rPr>
              <a:t>Recognition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04136" y="8108252"/>
            <a:ext cx="2100466" cy="4640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77"/>
              </a:lnSpc>
            </a:pPr>
            <a:r>
              <a:rPr lang="en-US" sz="1564" b="1" spc="-46">
                <a:solidFill>
                  <a:srgbClr val="0C3059"/>
                </a:solidFill>
                <a:latin typeface="Inter Medium"/>
                <a:ea typeface="Inter Medium"/>
                <a:cs typeface="Inter Medium"/>
                <a:sym typeface="Inter Medium"/>
              </a:rPr>
              <a:t>Recognize consecutive</a:t>
            </a:r>
          </a:p>
          <a:p>
            <a:pPr algn="l">
              <a:lnSpc>
                <a:spcPts val="1877"/>
              </a:lnSpc>
            </a:pPr>
            <a:r>
              <a:rPr lang="en-US" sz="1564" b="1" spc="-46">
                <a:solidFill>
                  <a:srgbClr val="0C3059"/>
                </a:solidFill>
                <a:latin typeface="Inter Medium"/>
                <a:ea typeface="Inter Medium"/>
                <a:cs typeface="Inter Medium"/>
                <a:sym typeface="Inter Medium"/>
              </a:rPr>
              <a:t>signs from video</a:t>
            </a:r>
          </a:p>
        </p:txBody>
      </p:sp>
      <p:sp>
        <p:nvSpPr>
          <p:cNvPr id="16" name="Freeform 16"/>
          <p:cNvSpPr/>
          <p:nvPr/>
        </p:nvSpPr>
        <p:spPr>
          <a:xfrm>
            <a:off x="864086" y="8997026"/>
            <a:ext cx="3062584" cy="218640"/>
          </a:xfrm>
          <a:custGeom>
            <a:avLst/>
            <a:gdLst/>
            <a:ahLst/>
            <a:cxnLst/>
            <a:rect l="l" t="t" r="r" b="b"/>
            <a:pathLst>
              <a:path w="3062584" h="218640">
                <a:moveTo>
                  <a:pt x="0" y="0"/>
                </a:moveTo>
                <a:lnTo>
                  <a:pt x="3062584" y="0"/>
                </a:lnTo>
                <a:lnTo>
                  <a:pt x="3062584" y="218639"/>
                </a:lnTo>
                <a:lnTo>
                  <a:pt x="0" y="21863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4134488" y="6209369"/>
            <a:ext cx="3270402" cy="3006296"/>
          </a:xfrm>
          <a:custGeom>
            <a:avLst/>
            <a:gdLst/>
            <a:ahLst/>
            <a:cxnLst/>
            <a:rect l="l" t="t" r="r" b="b"/>
            <a:pathLst>
              <a:path w="3270402" h="3006296">
                <a:moveTo>
                  <a:pt x="0" y="0"/>
                </a:moveTo>
                <a:lnTo>
                  <a:pt x="3270402" y="0"/>
                </a:lnTo>
                <a:lnTo>
                  <a:pt x="3270402" y="3006296"/>
                </a:lnTo>
                <a:lnTo>
                  <a:pt x="0" y="300629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4494506" y="6441125"/>
            <a:ext cx="952518" cy="5386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160"/>
              </a:lnSpc>
            </a:pPr>
            <a:r>
              <a:rPr lang="en-US" sz="3783" b="1" spc="-112" dirty="0">
                <a:solidFill>
                  <a:srgbClr val="8B70CC"/>
                </a:solidFill>
                <a:latin typeface="Inter Bold"/>
                <a:ea typeface="Inter Bold"/>
                <a:cs typeface="Inter Bold"/>
                <a:sym typeface="Inter Bold"/>
              </a:rPr>
              <a:t>02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467369" y="7125197"/>
            <a:ext cx="2411016" cy="6412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79"/>
              </a:lnSpc>
            </a:pPr>
            <a:r>
              <a:rPr lang="en-US" sz="2254" b="1" spc="-67" dirty="0">
                <a:solidFill>
                  <a:srgbClr val="0C3059"/>
                </a:solidFill>
                <a:latin typeface="Inter Bold"/>
                <a:ea typeface="Inter Bold"/>
                <a:cs typeface="Inter Bold"/>
                <a:sym typeface="Inter Bold"/>
              </a:rPr>
              <a:t>Word-Level</a:t>
            </a:r>
          </a:p>
          <a:p>
            <a:pPr algn="l">
              <a:lnSpc>
                <a:spcPts val="2479"/>
              </a:lnSpc>
            </a:pPr>
            <a:r>
              <a:rPr lang="en-US" sz="2254" b="1" spc="-67" dirty="0">
                <a:solidFill>
                  <a:srgbClr val="0C3059"/>
                </a:solidFill>
                <a:latin typeface="Inter Bold"/>
                <a:ea typeface="Inter Bold"/>
                <a:cs typeface="Inter Bold"/>
                <a:sym typeface="Inter Bold"/>
              </a:rPr>
              <a:t>Sign Recognition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482942" y="7866679"/>
            <a:ext cx="1762052" cy="7056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30"/>
              </a:lnSpc>
            </a:pPr>
            <a:r>
              <a:rPr lang="en-US" sz="1608" b="1" spc="-47">
                <a:solidFill>
                  <a:srgbClr val="0C3059"/>
                </a:solidFill>
                <a:latin typeface="Inter Medium"/>
                <a:ea typeface="Inter Medium"/>
                <a:cs typeface="Inter Medium"/>
                <a:sym typeface="Inter Medium"/>
              </a:rPr>
              <a:t>Move beyond</a:t>
            </a:r>
          </a:p>
          <a:p>
            <a:pPr algn="l">
              <a:lnSpc>
                <a:spcPts val="1930"/>
              </a:lnSpc>
            </a:pPr>
            <a:r>
              <a:rPr lang="en-US" sz="1608" b="1" spc="-47">
                <a:solidFill>
                  <a:srgbClr val="0C3059"/>
                </a:solidFill>
                <a:latin typeface="Inter Medium"/>
                <a:ea typeface="Inter Medium"/>
                <a:cs typeface="Inter Medium"/>
                <a:sym typeface="Inter Medium"/>
              </a:rPr>
              <a:t>individual alphabet</a:t>
            </a:r>
          </a:p>
          <a:p>
            <a:pPr algn="l">
              <a:lnSpc>
                <a:spcPts val="1930"/>
              </a:lnSpc>
            </a:pPr>
            <a:r>
              <a:rPr lang="en-US" sz="1608" b="1" spc="-47">
                <a:solidFill>
                  <a:srgbClr val="0C3059"/>
                </a:solidFill>
                <a:latin typeface="Inter Medium"/>
                <a:ea typeface="Inter Medium"/>
                <a:cs typeface="Inter Medium"/>
                <a:sym typeface="Inter Medium"/>
              </a:rPr>
              <a:t>symbols</a:t>
            </a:r>
          </a:p>
        </p:txBody>
      </p:sp>
      <p:sp>
        <p:nvSpPr>
          <p:cNvPr id="21" name="Freeform 21"/>
          <p:cNvSpPr/>
          <p:nvPr/>
        </p:nvSpPr>
        <p:spPr>
          <a:xfrm>
            <a:off x="4134488" y="8997026"/>
            <a:ext cx="3051646" cy="218640"/>
          </a:xfrm>
          <a:custGeom>
            <a:avLst/>
            <a:gdLst/>
            <a:ahLst/>
            <a:cxnLst/>
            <a:rect l="l" t="t" r="r" b="b"/>
            <a:pathLst>
              <a:path w="3051646" h="218640">
                <a:moveTo>
                  <a:pt x="0" y="0"/>
                </a:moveTo>
                <a:lnTo>
                  <a:pt x="3051646" y="0"/>
                </a:lnTo>
                <a:lnTo>
                  <a:pt x="3051646" y="218639"/>
                </a:lnTo>
                <a:lnTo>
                  <a:pt x="0" y="21863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7393952" y="6209369"/>
            <a:ext cx="3500096" cy="3006296"/>
          </a:xfrm>
          <a:custGeom>
            <a:avLst/>
            <a:gdLst/>
            <a:ahLst/>
            <a:cxnLst/>
            <a:rect l="l" t="t" r="r" b="b"/>
            <a:pathLst>
              <a:path w="3500096" h="3006296">
                <a:moveTo>
                  <a:pt x="0" y="0"/>
                </a:moveTo>
                <a:lnTo>
                  <a:pt x="3500096" y="0"/>
                </a:lnTo>
                <a:lnTo>
                  <a:pt x="3500096" y="3006296"/>
                </a:lnTo>
                <a:lnTo>
                  <a:pt x="0" y="300629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23" name="TextBox 23"/>
          <p:cNvSpPr txBox="1"/>
          <p:nvPr/>
        </p:nvSpPr>
        <p:spPr>
          <a:xfrm>
            <a:off x="7869890" y="6441141"/>
            <a:ext cx="609478" cy="5182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4"/>
              </a:lnSpc>
            </a:pPr>
            <a:r>
              <a:rPr lang="en-US" sz="3687" b="1" spc="-109">
                <a:solidFill>
                  <a:srgbClr val="8B70CC"/>
                </a:solidFill>
                <a:latin typeface="Inter Bold"/>
                <a:ea typeface="Inter Bold"/>
                <a:cs typeface="Inter Bold"/>
                <a:sym typeface="Inter Bold"/>
              </a:rPr>
              <a:t>03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875984" y="7068719"/>
            <a:ext cx="2411016" cy="6165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79"/>
              </a:lnSpc>
            </a:pPr>
            <a:r>
              <a:rPr lang="en-US" sz="2254" b="1" spc="-67">
                <a:solidFill>
                  <a:srgbClr val="0C3059"/>
                </a:solidFill>
                <a:latin typeface="Inter Bold"/>
                <a:ea typeface="Inter Bold"/>
                <a:cs typeface="Inter Bold"/>
                <a:sym typeface="Inter Bold"/>
              </a:rPr>
              <a:t>Sentence-Level</a:t>
            </a:r>
          </a:p>
          <a:p>
            <a:pPr algn="l">
              <a:lnSpc>
                <a:spcPts val="2479"/>
              </a:lnSpc>
            </a:pPr>
            <a:r>
              <a:rPr lang="en-US" sz="2254" b="1" spc="-67">
                <a:solidFill>
                  <a:srgbClr val="0C3059"/>
                </a:solidFill>
                <a:latin typeface="Inter Bold"/>
                <a:ea typeface="Inter Bold"/>
                <a:cs typeface="Inter Bold"/>
                <a:sym typeface="Inter Bold"/>
              </a:rPr>
              <a:t>Translation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856278" y="7806436"/>
            <a:ext cx="1970663" cy="7056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30"/>
              </a:lnSpc>
            </a:pPr>
            <a:r>
              <a:rPr lang="en-US" sz="1608" b="1" spc="-47">
                <a:solidFill>
                  <a:srgbClr val="0C3059"/>
                </a:solidFill>
                <a:latin typeface="Inter Medium"/>
                <a:ea typeface="Inter Medium"/>
                <a:cs typeface="Inter Medium"/>
                <a:sym typeface="Inter Medium"/>
              </a:rPr>
              <a:t>Generate meaningful</a:t>
            </a:r>
          </a:p>
          <a:p>
            <a:pPr algn="l">
              <a:lnSpc>
                <a:spcPts val="1930"/>
              </a:lnSpc>
            </a:pPr>
            <a:r>
              <a:rPr lang="en-US" sz="1608" b="1" spc="-47">
                <a:solidFill>
                  <a:srgbClr val="0C3059"/>
                </a:solidFill>
                <a:latin typeface="Inter Medium"/>
                <a:ea typeface="Inter Medium"/>
                <a:cs typeface="Inter Medium"/>
                <a:sym typeface="Inter Medium"/>
              </a:rPr>
              <a:t>sentences from sign</a:t>
            </a:r>
          </a:p>
          <a:p>
            <a:pPr algn="l">
              <a:lnSpc>
                <a:spcPts val="1930"/>
              </a:lnSpc>
            </a:pPr>
            <a:r>
              <a:rPr lang="en-US" sz="1608" b="1" spc="-47">
                <a:solidFill>
                  <a:srgbClr val="0C3059"/>
                </a:solidFill>
                <a:latin typeface="Inter Medium"/>
                <a:ea typeface="Inter Medium"/>
                <a:cs typeface="Inter Medium"/>
                <a:sym typeface="Inter Medium"/>
              </a:rPr>
              <a:t>sequences</a:t>
            </a:r>
          </a:p>
        </p:txBody>
      </p:sp>
      <p:sp>
        <p:nvSpPr>
          <p:cNvPr id="26" name="Freeform 26"/>
          <p:cNvSpPr/>
          <p:nvPr/>
        </p:nvSpPr>
        <p:spPr>
          <a:xfrm>
            <a:off x="7612708" y="8997026"/>
            <a:ext cx="3062584" cy="218640"/>
          </a:xfrm>
          <a:custGeom>
            <a:avLst/>
            <a:gdLst/>
            <a:ahLst/>
            <a:cxnLst/>
            <a:rect l="l" t="t" r="r" b="b"/>
            <a:pathLst>
              <a:path w="3062584" h="218640">
                <a:moveTo>
                  <a:pt x="0" y="0"/>
                </a:moveTo>
                <a:lnTo>
                  <a:pt x="3062584" y="0"/>
                </a:lnTo>
                <a:lnTo>
                  <a:pt x="3062584" y="218639"/>
                </a:lnTo>
                <a:lnTo>
                  <a:pt x="0" y="21863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27" name="Freeform 27"/>
          <p:cNvSpPr/>
          <p:nvPr/>
        </p:nvSpPr>
        <p:spPr>
          <a:xfrm>
            <a:off x="10883110" y="6209369"/>
            <a:ext cx="3270402" cy="3006296"/>
          </a:xfrm>
          <a:custGeom>
            <a:avLst/>
            <a:gdLst/>
            <a:ahLst/>
            <a:cxnLst/>
            <a:rect l="l" t="t" r="r" b="b"/>
            <a:pathLst>
              <a:path w="3270402" h="3006296">
                <a:moveTo>
                  <a:pt x="0" y="0"/>
                </a:moveTo>
                <a:lnTo>
                  <a:pt x="3270402" y="0"/>
                </a:lnTo>
                <a:lnTo>
                  <a:pt x="3270402" y="3006296"/>
                </a:lnTo>
                <a:lnTo>
                  <a:pt x="0" y="3006296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28" name="TextBox 28"/>
          <p:cNvSpPr txBox="1"/>
          <p:nvPr/>
        </p:nvSpPr>
        <p:spPr>
          <a:xfrm>
            <a:off x="11298808" y="6441141"/>
            <a:ext cx="617682" cy="5182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4"/>
              </a:lnSpc>
            </a:pPr>
            <a:r>
              <a:rPr lang="en-US" sz="3687" b="1" spc="-109">
                <a:solidFill>
                  <a:srgbClr val="8B70CC"/>
                </a:solidFill>
                <a:latin typeface="Inter Bold"/>
                <a:ea typeface="Inter Bold"/>
                <a:cs typeface="Inter Bold"/>
                <a:sym typeface="Inter Bold"/>
              </a:rPr>
              <a:t>04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1304984" y="7068719"/>
            <a:ext cx="2411016" cy="6165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79"/>
              </a:lnSpc>
            </a:pPr>
            <a:r>
              <a:rPr lang="en-US" sz="2254" b="1" spc="-67">
                <a:solidFill>
                  <a:srgbClr val="0C3059"/>
                </a:solidFill>
                <a:latin typeface="Inter Bold"/>
                <a:ea typeface="Inter Bold"/>
                <a:cs typeface="Inter Bold"/>
                <a:sym typeface="Inter Bold"/>
              </a:rPr>
              <a:t>Mobile &amp; Web</a:t>
            </a:r>
          </a:p>
          <a:p>
            <a:pPr algn="l">
              <a:lnSpc>
                <a:spcPts val="2479"/>
              </a:lnSpc>
            </a:pPr>
            <a:r>
              <a:rPr lang="en-US" sz="2254" b="1" spc="-67">
                <a:solidFill>
                  <a:srgbClr val="0C3059"/>
                </a:solidFill>
                <a:latin typeface="Inter Bold"/>
                <a:ea typeface="Inter Bold"/>
                <a:cs typeface="Inter Bold"/>
                <a:sym typeface="Inter Bold"/>
              </a:rPr>
              <a:t>Deployment</a:t>
            </a:r>
          </a:p>
        </p:txBody>
      </p:sp>
      <p:sp>
        <p:nvSpPr>
          <p:cNvPr id="30" name="Freeform 30"/>
          <p:cNvSpPr/>
          <p:nvPr/>
        </p:nvSpPr>
        <p:spPr>
          <a:xfrm>
            <a:off x="11101866" y="8997026"/>
            <a:ext cx="2832890" cy="218640"/>
          </a:xfrm>
          <a:custGeom>
            <a:avLst/>
            <a:gdLst/>
            <a:ahLst/>
            <a:cxnLst/>
            <a:rect l="l" t="t" r="r" b="b"/>
            <a:pathLst>
              <a:path w="2832890" h="218640">
                <a:moveTo>
                  <a:pt x="0" y="0"/>
                </a:moveTo>
                <a:lnTo>
                  <a:pt x="2832890" y="0"/>
                </a:lnTo>
                <a:lnTo>
                  <a:pt x="2832890" y="218639"/>
                </a:lnTo>
                <a:lnTo>
                  <a:pt x="0" y="21863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31" name="Freeform 31"/>
          <p:cNvSpPr/>
          <p:nvPr/>
        </p:nvSpPr>
        <p:spPr>
          <a:xfrm>
            <a:off x="14361330" y="6209369"/>
            <a:ext cx="3281340" cy="3006296"/>
          </a:xfrm>
          <a:custGeom>
            <a:avLst/>
            <a:gdLst/>
            <a:ahLst/>
            <a:cxnLst/>
            <a:rect l="l" t="t" r="r" b="b"/>
            <a:pathLst>
              <a:path w="3281340" h="3006296">
                <a:moveTo>
                  <a:pt x="0" y="0"/>
                </a:moveTo>
                <a:lnTo>
                  <a:pt x="3281340" y="0"/>
                </a:lnTo>
                <a:lnTo>
                  <a:pt x="3281340" y="3006296"/>
                </a:lnTo>
                <a:lnTo>
                  <a:pt x="0" y="3006296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32" name="TextBox 32"/>
          <p:cNvSpPr txBox="1"/>
          <p:nvPr/>
        </p:nvSpPr>
        <p:spPr>
          <a:xfrm>
            <a:off x="14727775" y="6440817"/>
            <a:ext cx="620963" cy="5283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13"/>
              </a:lnSpc>
            </a:pPr>
            <a:r>
              <a:rPr lang="en-US" sz="3832" b="1" spc="-114">
                <a:solidFill>
                  <a:srgbClr val="8B70CC"/>
                </a:solidFill>
                <a:latin typeface="Inter Bold"/>
                <a:ea typeface="Inter Bold"/>
                <a:cs typeface="Inter Bold"/>
                <a:sym typeface="Inter Bold"/>
              </a:rPr>
              <a:t>05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4733984" y="7037482"/>
            <a:ext cx="2411016" cy="9200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79"/>
              </a:lnSpc>
            </a:pPr>
            <a:r>
              <a:rPr lang="en-US" sz="2254" b="1" spc="-67">
                <a:solidFill>
                  <a:srgbClr val="0C3059"/>
                </a:solidFill>
                <a:latin typeface="Inter Bold"/>
                <a:ea typeface="Inter Bold"/>
                <a:cs typeface="Inter Bold"/>
                <a:sym typeface="Inter Bold"/>
              </a:rPr>
              <a:t>Multimodal</a:t>
            </a:r>
          </a:p>
          <a:p>
            <a:pPr algn="l">
              <a:lnSpc>
                <a:spcPts val="2479"/>
              </a:lnSpc>
            </a:pPr>
            <a:r>
              <a:rPr lang="en-US" sz="2254" b="1" spc="-67">
                <a:solidFill>
                  <a:srgbClr val="0C3059"/>
                </a:solidFill>
                <a:latin typeface="Inter Bold"/>
                <a:ea typeface="Inter Bold"/>
                <a:cs typeface="Inter Bold"/>
                <a:sym typeface="Inter Bold"/>
              </a:rPr>
              <a:t>Sign-Language</a:t>
            </a:r>
          </a:p>
          <a:p>
            <a:pPr algn="l">
              <a:lnSpc>
                <a:spcPts val="2479"/>
              </a:lnSpc>
            </a:pPr>
            <a:r>
              <a:rPr lang="en-US" sz="2254" b="1" spc="-67">
                <a:solidFill>
                  <a:srgbClr val="0C3059"/>
                </a:solidFill>
                <a:latin typeface="Inter Bold"/>
                <a:ea typeface="Inter Bold"/>
                <a:cs typeface="Inter Bold"/>
                <a:sym typeface="Inter Bold"/>
              </a:rPr>
              <a:t>Understanding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4712759" y="8107652"/>
            <a:ext cx="2122579" cy="7056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30"/>
              </a:lnSpc>
            </a:pPr>
            <a:r>
              <a:rPr lang="en-US" sz="1608" b="1" spc="-47">
                <a:solidFill>
                  <a:srgbClr val="0C3059"/>
                </a:solidFill>
                <a:latin typeface="Inter Medium"/>
                <a:ea typeface="Inter Medium"/>
                <a:cs typeface="Inter Medium"/>
                <a:sym typeface="Inter Medium"/>
              </a:rPr>
              <a:t>Combine visual,</a:t>
            </a:r>
          </a:p>
          <a:p>
            <a:pPr algn="l">
              <a:lnSpc>
                <a:spcPts val="1930"/>
              </a:lnSpc>
            </a:pPr>
            <a:r>
              <a:rPr lang="en-US" sz="1608" b="1" spc="-47">
                <a:solidFill>
                  <a:srgbClr val="0C3059"/>
                </a:solidFill>
                <a:latin typeface="Inter Medium"/>
                <a:ea typeface="Inter Medium"/>
                <a:cs typeface="Inter Medium"/>
                <a:sym typeface="Inter Medium"/>
              </a:rPr>
              <a:t>temporal and</a:t>
            </a:r>
          </a:p>
          <a:p>
            <a:pPr algn="l">
              <a:lnSpc>
                <a:spcPts val="1930"/>
              </a:lnSpc>
            </a:pPr>
            <a:r>
              <a:rPr lang="en-US" sz="1608" b="1" spc="-47">
                <a:solidFill>
                  <a:srgbClr val="0C3059"/>
                </a:solidFill>
                <a:latin typeface="Inter Medium"/>
                <a:ea typeface="Inter Medium"/>
                <a:cs typeface="Inter Medium"/>
                <a:sym typeface="Inter Medium"/>
              </a:rPr>
              <a:t>contextual information</a:t>
            </a:r>
          </a:p>
        </p:txBody>
      </p:sp>
      <p:sp>
        <p:nvSpPr>
          <p:cNvPr id="35" name="Freeform 35"/>
          <p:cNvSpPr/>
          <p:nvPr/>
        </p:nvSpPr>
        <p:spPr>
          <a:xfrm>
            <a:off x="14361330" y="8997026"/>
            <a:ext cx="3062584" cy="218640"/>
          </a:xfrm>
          <a:custGeom>
            <a:avLst/>
            <a:gdLst/>
            <a:ahLst/>
            <a:cxnLst/>
            <a:rect l="l" t="t" r="r" b="b"/>
            <a:pathLst>
              <a:path w="3062584" h="218640">
                <a:moveTo>
                  <a:pt x="0" y="0"/>
                </a:moveTo>
                <a:lnTo>
                  <a:pt x="3062584" y="0"/>
                </a:lnTo>
                <a:lnTo>
                  <a:pt x="3062584" y="218639"/>
                </a:lnTo>
                <a:lnTo>
                  <a:pt x="0" y="21863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</p:sp>
      <p:sp>
        <p:nvSpPr>
          <p:cNvPr id="36" name="Freeform 36"/>
          <p:cNvSpPr/>
          <p:nvPr/>
        </p:nvSpPr>
        <p:spPr>
          <a:xfrm>
            <a:off x="645330" y="9642013"/>
            <a:ext cx="6540804" cy="218640"/>
          </a:xfrm>
          <a:custGeom>
            <a:avLst/>
            <a:gdLst/>
            <a:ahLst/>
            <a:cxnLst/>
            <a:rect l="l" t="t" r="r" b="b"/>
            <a:pathLst>
              <a:path w="6540804" h="218640">
                <a:moveTo>
                  <a:pt x="0" y="0"/>
                </a:moveTo>
                <a:lnTo>
                  <a:pt x="6540804" y="0"/>
                </a:lnTo>
                <a:lnTo>
                  <a:pt x="6540804" y="218639"/>
                </a:lnTo>
                <a:lnTo>
                  <a:pt x="0" y="218639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</p:sp>
      <p:sp>
        <p:nvSpPr>
          <p:cNvPr id="37" name="TextBox 37"/>
          <p:cNvSpPr txBox="1"/>
          <p:nvPr/>
        </p:nvSpPr>
        <p:spPr>
          <a:xfrm>
            <a:off x="7688605" y="9473941"/>
            <a:ext cx="2786845" cy="6246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17"/>
              </a:lnSpc>
            </a:pPr>
            <a:r>
              <a:rPr lang="en-US" sz="4381" b="1" spc="-130">
                <a:solidFill>
                  <a:srgbClr val="8B70CC"/>
                </a:solidFill>
                <a:latin typeface="Inter Bold"/>
                <a:ea typeface="Inter Bold"/>
                <a:cs typeface="Inter Bold"/>
                <a:sym typeface="Inter Bold"/>
              </a:rPr>
              <a:t>Thank You</a:t>
            </a:r>
          </a:p>
        </p:txBody>
      </p:sp>
      <p:sp>
        <p:nvSpPr>
          <p:cNvPr id="38" name="Freeform 38"/>
          <p:cNvSpPr/>
          <p:nvPr/>
        </p:nvSpPr>
        <p:spPr>
          <a:xfrm>
            <a:off x="11101866" y="9642013"/>
            <a:ext cx="6540804" cy="218640"/>
          </a:xfrm>
          <a:custGeom>
            <a:avLst/>
            <a:gdLst/>
            <a:ahLst/>
            <a:cxnLst/>
            <a:rect l="l" t="t" r="r" b="b"/>
            <a:pathLst>
              <a:path w="6540804" h="218640">
                <a:moveTo>
                  <a:pt x="0" y="0"/>
                </a:moveTo>
                <a:lnTo>
                  <a:pt x="6540804" y="0"/>
                </a:lnTo>
                <a:lnTo>
                  <a:pt x="6540804" y="218639"/>
                </a:lnTo>
                <a:lnTo>
                  <a:pt x="0" y="218639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</p:sp>
      <p:sp>
        <p:nvSpPr>
          <p:cNvPr id="39" name="TextBox 39"/>
          <p:cNvSpPr txBox="1"/>
          <p:nvPr/>
        </p:nvSpPr>
        <p:spPr>
          <a:xfrm>
            <a:off x="11285261" y="7857754"/>
            <a:ext cx="1972317" cy="4735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30"/>
              </a:lnSpc>
            </a:pPr>
            <a:r>
              <a:rPr lang="en-US" sz="1608" b="1" spc="-47">
                <a:solidFill>
                  <a:srgbClr val="0C3059"/>
                </a:solidFill>
                <a:latin typeface="Inter Medium"/>
                <a:ea typeface="Inter Medium"/>
                <a:cs typeface="Inter Medium"/>
                <a:sym typeface="Inter Medium"/>
              </a:rPr>
              <a:t>Enable real-time</a:t>
            </a:r>
          </a:p>
          <a:p>
            <a:pPr algn="l">
              <a:lnSpc>
                <a:spcPts val="1930"/>
              </a:lnSpc>
            </a:pPr>
            <a:r>
              <a:rPr lang="en-US" sz="1608" b="1" spc="-47">
                <a:solidFill>
                  <a:srgbClr val="0C3059"/>
                </a:solidFill>
                <a:latin typeface="Inter Medium"/>
                <a:ea typeface="Inter Medium"/>
                <a:cs typeface="Inter Medium"/>
                <a:sym typeface="Inter Medium"/>
              </a:rPr>
              <a:t>practical applications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523</Words>
  <Application>Microsoft Office PowerPoint</Application>
  <PresentationFormat>Custom</PresentationFormat>
  <Paragraphs>238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Inter Medium</vt:lpstr>
      <vt:lpstr>Inter Bold</vt:lpstr>
      <vt:lpstr>Inter Semi-Bold</vt:lpstr>
      <vt:lpstr>Neue Montreal Bold</vt:lpstr>
      <vt:lpstr>Inter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ASL Recognition Case Study</dc:title>
  <dc:creator>SHASHI</dc:creator>
  <cp:lastModifiedBy>bnikhil8185@outlook.com</cp:lastModifiedBy>
  <cp:revision>2</cp:revision>
  <dcterms:created xsi:type="dcterms:W3CDTF">2006-08-16T00:00:00Z</dcterms:created>
  <dcterms:modified xsi:type="dcterms:W3CDTF">2026-10-04T11:39:03Z</dcterms:modified>
  <dc:identifier>DAHXCyJa6s8</dc:identifier>
</cp:coreProperties>
</file>